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7b2b58784e4e35" /><Relationship Type="http://schemas.openxmlformats.org/officeDocument/2006/relationships/extended-properties" Target="/docProps/app.xml" Id="R18bf81263d0240e4" /><Relationship Type="http://schemas.openxmlformats.org/officeDocument/2006/relationships/officeDocument" Target="/ppt/presentation.xml" Id="R1e471fafed3d43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d53a485b254415"/>
  </p:sldMasterIdLst>
  <p:notesMasterIdLst>
    <p:notesMasterId xmlns:r="http://schemas.openxmlformats.org/officeDocument/2006/relationships" r:id="R2699c8731c4946b8"/>
  </p:notesMasterIdLst>
  <p:sldIdLst>
    <p:sldId xmlns:r="http://schemas.openxmlformats.org/officeDocument/2006/relationships" id="256" r:id="Rb5612a3c30e9437f"/>
    <p:sldId xmlns:r="http://schemas.openxmlformats.org/officeDocument/2006/relationships" id="257" r:id="R837f6d315d9b4ce2"/>
    <p:sldId xmlns:r="http://schemas.openxmlformats.org/officeDocument/2006/relationships" id="258" r:id="R4c2af61d77b843d1"/>
    <p:sldId xmlns:r="http://schemas.openxmlformats.org/officeDocument/2006/relationships" id="259" r:id="R9bd4b83775f542d2"/>
    <p:sldId xmlns:r="http://schemas.openxmlformats.org/officeDocument/2006/relationships" id="260" r:id="Ra8266444cf6f483e"/>
    <p:sldId xmlns:r="http://schemas.openxmlformats.org/officeDocument/2006/relationships" id="261" r:id="R7c118418874646d2"/>
    <p:sldId xmlns:r="http://schemas.openxmlformats.org/officeDocument/2006/relationships" id="262" r:id="R4a42b19728a44425"/>
    <p:sldId xmlns:r="http://schemas.openxmlformats.org/officeDocument/2006/relationships" id="263" r:id="R0b1d02dfbc6e4d6a"/>
    <p:sldId xmlns:r="http://schemas.openxmlformats.org/officeDocument/2006/relationships" id="264" r:id="R1b5544bff41b4bc3"/>
    <p:sldId xmlns:r="http://schemas.openxmlformats.org/officeDocument/2006/relationships" id="265" r:id="R8427aa65be874d1b"/>
    <p:sldId xmlns:r="http://schemas.openxmlformats.org/officeDocument/2006/relationships" id="266" r:id="Ra1b34c6166cf4650"/>
    <p:sldId xmlns:r="http://schemas.openxmlformats.org/officeDocument/2006/relationships" id="267" r:id="R8167c7bdc9bc472c"/>
    <p:sldId xmlns:r="http://schemas.openxmlformats.org/officeDocument/2006/relationships" id="268" r:id="R931f0e7c49484fa5"/>
    <p:sldId xmlns:r="http://schemas.openxmlformats.org/officeDocument/2006/relationships" id="269" r:id="Re1396fefe7d74584"/>
    <p:sldId xmlns:r="http://schemas.openxmlformats.org/officeDocument/2006/relationships" id="270" r:id="R2e5160b6fd064d85"/>
    <p:sldId xmlns:r="http://schemas.openxmlformats.org/officeDocument/2006/relationships" id="271" r:id="R3e43376129f34218"/>
    <p:sldId xmlns:r="http://schemas.openxmlformats.org/officeDocument/2006/relationships" id="272" r:id="Rb4d1f4106c8e41dc"/>
    <p:sldId xmlns:r="http://schemas.openxmlformats.org/officeDocument/2006/relationships" id="273" r:id="Rff9eb90801824b71"/>
    <p:sldId xmlns:r="http://schemas.openxmlformats.org/officeDocument/2006/relationships" id="274" r:id="Rab8d0033305b48b8"/>
    <p:sldId xmlns:r="http://schemas.openxmlformats.org/officeDocument/2006/relationships" id="275" r:id="R86d550564af24a31"/>
    <p:sldId xmlns:r="http://schemas.openxmlformats.org/officeDocument/2006/relationships" id="276" r:id="R3d6ba7bd87e14608"/>
    <p:sldId xmlns:r="http://schemas.openxmlformats.org/officeDocument/2006/relationships" id="277" r:id="Rdb07f699adfa464b"/>
    <p:sldId xmlns:r="http://schemas.openxmlformats.org/officeDocument/2006/relationships" id="278" r:id="R0cbbc91edd29473e"/>
    <p:sldId xmlns:r="http://schemas.openxmlformats.org/officeDocument/2006/relationships" id="279" r:id="R5d8fb14dd5384145"/>
    <p:sldId xmlns:r="http://schemas.openxmlformats.org/officeDocument/2006/relationships" id="280" r:id="R86d909eb2fda4395"/>
    <p:sldId xmlns:r="http://schemas.openxmlformats.org/officeDocument/2006/relationships" id="281" r:id="Redbe5d2e26d24697"/>
    <p:sldId xmlns:r="http://schemas.openxmlformats.org/officeDocument/2006/relationships" id="282" r:id="R4f4d1d83376d4c55"/>
    <p:sldId xmlns:r="http://schemas.openxmlformats.org/officeDocument/2006/relationships" id="283" r:id="Ra11bb474283a4d10"/>
    <p:sldId xmlns:r="http://schemas.openxmlformats.org/officeDocument/2006/relationships" id="284" r:id="Rd5d5db455c0e4974"/>
    <p:sldId xmlns:r="http://schemas.openxmlformats.org/officeDocument/2006/relationships" id="285" r:id="Rbae9359dfbbb497e"/>
    <p:sldId xmlns:r="http://schemas.openxmlformats.org/officeDocument/2006/relationships" id="286" r:id="R7b75e81ce2034b5b"/>
    <p:sldId xmlns:r="http://schemas.openxmlformats.org/officeDocument/2006/relationships" id="287" r:id="R1730a657c53949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f9cd0a35744c76" /><Relationship Type="http://schemas.openxmlformats.org/officeDocument/2006/relationships/slideMaster" Target="/ppt/slideMasters/slideMaster1.xml" Id="R4cd53a485b254415" /><Relationship Type="http://schemas.openxmlformats.org/officeDocument/2006/relationships/notesMaster" Target="/ppt/notesMasters/notesMaster1.xml" Id="R2699c8731c4946b8" /><Relationship Type="http://schemas.openxmlformats.org/officeDocument/2006/relationships/presProps" Target="/ppt/presProps.xml" Id="Rf058c6875b624842" /><Relationship Type="http://schemas.openxmlformats.org/officeDocument/2006/relationships/tableStyles" Target="/ppt/tableStyles.xml" Id="Rd4c6a0815b314aac" /><Relationship Type="http://schemas.openxmlformats.org/officeDocument/2006/relationships/slide" Target="/ppt/slides/slide1.xml" Id="Rb5612a3c30e9437f" /><Relationship Type="http://schemas.openxmlformats.org/officeDocument/2006/relationships/slide" Target="/ppt/slides/slide2.xml" Id="R837f6d315d9b4ce2" /><Relationship Type="http://schemas.openxmlformats.org/officeDocument/2006/relationships/slide" Target="/ppt/slides/slide3.xml" Id="R4c2af61d77b843d1" /><Relationship Type="http://schemas.openxmlformats.org/officeDocument/2006/relationships/slide" Target="/ppt/slides/slide4.xml" Id="R9bd4b83775f542d2" /><Relationship Type="http://schemas.openxmlformats.org/officeDocument/2006/relationships/slide" Target="/ppt/slides/slide5.xml" Id="Ra8266444cf6f483e" /><Relationship Type="http://schemas.openxmlformats.org/officeDocument/2006/relationships/slide" Target="/ppt/slides/slide6.xml" Id="R7c118418874646d2" /><Relationship Type="http://schemas.openxmlformats.org/officeDocument/2006/relationships/slide" Target="/ppt/slides/slide7.xml" Id="R4a42b19728a44425" /><Relationship Type="http://schemas.openxmlformats.org/officeDocument/2006/relationships/slide" Target="/ppt/slides/slide8.xml" Id="R0b1d02dfbc6e4d6a" /><Relationship Type="http://schemas.openxmlformats.org/officeDocument/2006/relationships/slide" Target="/ppt/slides/slide9.xml" Id="R1b5544bff41b4bc3" /><Relationship Type="http://schemas.openxmlformats.org/officeDocument/2006/relationships/slide" Target="/ppt/slides/slide10.xml" Id="R8427aa65be874d1b" /><Relationship Type="http://schemas.openxmlformats.org/officeDocument/2006/relationships/slide" Target="/ppt/slides/slide11.xml" Id="Ra1b34c6166cf4650" /><Relationship Type="http://schemas.openxmlformats.org/officeDocument/2006/relationships/slide" Target="/ppt/slides/slide12.xml" Id="R8167c7bdc9bc472c" /><Relationship Type="http://schemas.openxmlformats.org/officeDocument/2006/relationships/slide" Target="/ppt/slides/slide13.xml" Id="R931f0e7c49484fa5" /><Relationship Type="http://schemas.openxmlformats.org/officeDocument/2006/relationships/slide" Target="/ppt/slides/slide14.xml" Id="Re1396fefe7d74584" /><Relationship Type="http://schemas.openxmlformats.org/officeDocument/2006/relationships/slide" Target="/ppt/slides/slide15.xml" Id="R2e5160b6fd064d85" /><Relationship Type="http://schemas.openxmlformats.org/officeDocument/2006/relationships/slide" Target="/ppt/slides/slide16.xml" Id="R3e43376129f34218" /><Relationship Type="http://schemas.openxmlformats.org/officeDocument/2006/relationships/slide" Target="/ppt/slides/slide17.xml" Id="Rb4d1f4106c8e41dc" /><Relationship Type="http://schemas.openxmlformats.org/officeDocument/2006/relationships/slide" Target="/ppt/slides/slide18.xml" Id="Rff9eb90801824b71" /><Relationship Type="http://schemas.openxmlformats.org/officeDocument/2006/relationships/slide" Target="/ppt/slides/slide19.xml" Id="Rab8d0033305b48b8" /><Relationship Type="http://schemas.openxmlformats.org/officeDocument/2006/relationships/slide" Target="/ppt/slides/slide20.xml" Id="R86d550564af24a31" /><Relationship Type="http://schemas.openxmlformats.org/officeDocument/2006/relationships/slide" Target="/ppt/slides/slide21.xml" Id="R3d6ba7bd87e14608" /><Relationship Type="http://schemas.openxmlformats.org/officeDocument/2006/relationships/slide" Target="/ppt/slides/slide22.xml" Id="Rdb07f699adfa464b" /><Relationship Type="http://schemas.openxmlformats.org/officeDocument/2006/relationships/slide" Target="/ppt/slides/slide23.xml" Id="R0cbbc91edd29473e" /><Relationship Type="http://schemas.openxmlformats.org/officeDocument/2006/relationships/slide" Target="/ppt/slides/slide24.xml" Id="R5d8fb14dd5384145" /><Relationship Type="http://schemas.openxmlformats.org/officeDocument/2006/relationships/slide" Target="/ppt/slides/slide25.xml" Id="R86d909eb2fda4395" /><Relationship Type="http://schemas.openxmlformats.org/officeDocument/2006/relationships/slide" Target="/ppt/slides/slide26.xml" Id="Redbe5d2e26d24697" /><Relationship Type="http://schemas.openxmlformats.org/officeDocument/2006/relationships/slide" Target="/ppt/slides/slide27.xml" Id="R4f4d1d83376d4c55" /><Relationship Type="http://schemas.openxmlformats.org/officeDocument/2006/relationships/slide" Target="/ppt/slides/slide28.xml" Id="Ra11bb474283a4d10" /><Relationship Type="http://schemas.openxmlformats.org/officeDocument/2006/relationships/slide" Target="/ppt/slides/slide29.xml" Id="Rd5d5db455c0e4974" /><Relationship Type="http://schemas.openxmlformats.org/officeDocument/2006/relationships/slide" Target="/ppt/slides/slide30.xml" Id="Rbae9359dfbbb497e" /><Relationship Type="http://schemas.openxmlformats.org/officeDocument/2006/relationships/slide" Target="/ppt/slides/slide31.xml" Id="R7b75e81ce2034b5b" /><Relationship Type="http://schemas.openxmlformats.org/officeDocument/2006/relationships/slide" Target="/ppt/slides/slide32.xml" Id="R1730a657c53949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5e8cbb832045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14be2ddda049c0" /><Relationship Type="http://schemas.openxmlformats.org/officeDocument/2006/relationships/notesMaster" Target="/ppt/notesMasters/notesMaster1.xml" Id="R36f0cded645d40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2a47b42af94c17" /><Relationship Type="http://schemas.openxmlformats.org/officeDocument/2006/relationships/notesMaster" Target="/ppt/notesMasters/notesMaster1.xml" Id="R444c214e9f834b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ee7a31db8b4069" /><Relationship Type="http://schemas.openxmlformats.org/officeDocument/2006/relationships/notesMaster" Target="/ppt/notesMasters/notesMaster1.xml" Id="R79379d3cfab041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c4f4ec48d24296" /><Relationship Type="http://schemas.openxmlformats.org/officeDocument/2006/relationships/notesMaster" Target="/ppt/notesMasters/notesMaster1.xml" Id="R3e56482fbbe946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fda37cb95942c1" /><Relationship Type="http://schemas.openxmlformats.org/officeDocument/2006/relationships/notesMaster" Target="/ppt/notesMasters/notesMaster1.xml" Id="R496954c0d0d94b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d0d2d08d444e11" /><Relationship Type="http://schemas.openxmlformats.org/officeDocument/2006/relationships/notesMaster" Target="/ppt/notesMasters/notesMaster1.xml" Id="R3a706799146a4d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cc5f4989e04382" /><Relationship Type="http://schemas.openxmlformats.org/officeDocument/2006/relationships/notesMaster" Target="/ppt/notesMasters/notesMaster1.xml" Id="Rea98f4209da443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3fc52ad551424d" /><Relationship Type="http://schemas.openxmlformats.org/officeDocument/2006/relationships/notesMaster" Target="/ppt/notesMasters/notesMaster1.xml" Id="Ra87d0622d01e45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5b2fe8e29640bd" /><Relationship Type="http://schemas.openxmlformats.org/officeDocument/2006/relationships/notesMaster" Target="/ppt/notesMasters/notesMaster1.xml" Id="Rce48f6759d4643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2e2da3fc324e1e" /><Relationship Type="http://schemas.openxmlformats.org/officeDocument/2006/relationships/notesMaster" Target="/ppt/notesMasters/notesMaster1.xml" Id="Rbf522ecdfdde4a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553896b2dc405e" /><Relationship Type="http://schemas.openxmlformats.org/officeDocument/2006/relationships/notesMaster" Target="/ppt/notesMasters/notesMaster1.xml" Id="R52c13fb7a02d47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f3b5cb3d6f4e6c" /><Relationship Type="http://schemas.openxmlformats.org/officeDocument/2006/relationships/notesMaster" Target="/ppt/notesMasters/notesMaster1.xml" Id="R7713a1fb64314a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a124b595084153" /><Relationship Type="http://schemas.openxmlformats.org/officeDocument/2006/relationships/notesMaster" Target="/ppt/notesMasters/notesMaster1.xml" Id="Rc5a605a271eb49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d1934183fc4b02" /><Relationship Type="http://schemas.openxmlformats.org/officeDocument/2006/relationships/notesMaster" Target="/ppt/notesMasters/notesMaster1.xml" Id="R7f97c1ea4e9e437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056e587d3d4547" /><Relationship Type="http://schemas.openxmlformats.org/officeDocument/2006/relationships/notesMaster" Target="/ppt/notesMasters/notesMaster1.xml" Id="R9614c0f8c5e6424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66932b68f6d42d8" /><Relationship Type="http://schemas.openxmlformats.org/officeDocument/2006/relationships/notesMaster" Target="/ppt/notesMasters/notesMaster1.xml" Id="Rc374bd18fe96463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5cf6cd17b744d63" /><Relationship Type="http://schemas.openxmlformats.org/officeDocument/2006/relationships/notesMaster" Target="/ppt/notesMasters/notesMaster1.xml" Id="R698a5c3a9d5344f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f0bba0e506543cc" /><Relationship Type="http://schemas.openxmlformats.org/officeDocument/2006/relationships/notesMaster" Target="/ppt/notesMasters/notesMaster1.xml" Id="Rc3c4e4c22e0246a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d6d283634e043d3" /><Relationship Type="http://schemas.openxmlformats.org/officeDocument/2006/relationships/notesMaster" Target="/ppt/notesMasters/notesMaster1.xml" Id="Re7449ed4c310460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2914db477c5482b" /><Relationship Type="http://schemas.openxmlformats.org/officeDocument/2006/relationships/notesMaster" Target="/ppt/notesMasters/notesMaster1.xml" Id="R7d3e4af7a546450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d79be8699f14a5b" /><Relationship Type="http://schemas.openxmlformats.org/officeDocument/2006/relationships/notesMaster" Target="/ppt/notesMasters/notesMaster1.xml" Id="R1a5527c9713c4a7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8bf45db2d55483a" /><Relationship Type="http://schemas.openxmlformats.org/officeDocument/2006/relationships/notesMaster" Target="/ppt/notesMasters/notesMaster1.xml" Id="Re3c02cad53a648e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6b4d64ef7d74831" /><Relationship Type="http://schemas.openxmlformats.org/officeDocument/2006/relationships/notesMaster" Target="/ppt/notesMasters/notesMaster1.xml" Id="R48a74dffa7d945f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fb3cb99b1464943" /><Relationship Type="http://schemas.openxmlformats.org/officeDocument/2006/relationships/notesMaster" Target="/ppt/notesMasters/notesMaster1.xml" Id="Rcfe18403e3d6425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5c312fe058d43a9" /><Relationship Type="http://schemas.openxmlformats.org/officeDocument/2006/relationships/notesMaster" Target="/ppt/notesMasters/notesMaster1.xml" Id="R185d65d6e4d441d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c11b704c2134bd1" /><Relationship Type="http://schemas.openxmlformats.org/officeDocument/2006/relationships/notesMaster" Target="/ppt/notesMasters/notesMaster1.xml" Id="Rbc00769445f8475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bb0ca2a6d8c493c" /><Relationship Type="http://schemas.openxmlformats.org/officeDocument/2006/relationships/notesMaster" Target="/ppt/notesMasters/notesMaster1.xml" Id="Rfca2632f727544a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aa82602638b442d" /><Relationship Type="http://schemas.openxmlformats.org/officeDocument/2006/relationships/notesMaster" Target="/ppt/notesMasters/notesMaster1.xml" Id="Rb5174ce23aea4bb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7dcb06cfd384fdc" /><Relationship Type="http://schemas.openxmlformats.org/officeDocument/2006/relationships/notesMaster" Target="/ppt/notesMasters/notesMaster1.xml" Id="R0ad3010c61c9459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09829c6a47f4e30" /><Relationship Type="http://schemas.openxmlformats.org/officeDocument/2006/relationships/notesMaster" Target="/ppt/notesMasters/notesMaster1.xml" Id="Rf7dfaa773eec40d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c5d72a6fc5447bd" /><Relationship Type="http://schemas.openxmlformats.org/officeDocument/2006/relationships/notesMaster" Target="/ppt/notesMasters/notesMaster1.xml" Id="R08037d53f23f409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68c92d9c28d457c" /><Relationship Type="http://schemas.openxmlformats.org/officeDocument/2006/relationships/notesMaster" Target="/ppt/notesMasters/notesMaster1.xml" Id="Rdf93676588ec43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[교육 단원] 08 브라우저 에이전트</a:t>
            </a:r>
          </a:p>
          <a:p xmlns:a="http://schemas.openxmlformats.org/drawingml/2006/main">
            <a:r>
              <a:t>[시간] 14:45–14:57</a:t>
            </a:r>
          </a:p>
          <a:p xmlns:a="http://schemas.openxmlformats.org/drawingml/2006/main">
            <a:r>
              <a:t>12분 설명·시연. 브라우저 에이전트는 웹 페이지를 읽거나 실제로 조작한다. 클릭·입력·이동은 시스템 상태를 바꿀 수 있다. 웹 검색과 페이지 기반 읽기, 실제 화면 조작을 구분해 보여 준다.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SPICA 교육 커리큘럼과 기능 설명. 교육용 예시이며 실제 서비스 운영 정책은 별도 확인.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[개정 안내] 사용자 참고 이미지의 포인트 색과 입체 아이콘 방향으로 개선. 가상 화면은 실제 SPICA 화면으로 교체 가능.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IMG_6777.jpeg, IMG_6778.jpeg는 시각 방향 참고. 본 개정의 3D 이미지와 아이콘은 원본 생성 자산.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[편집 참고] 통합본 78쪽 · 분할본 05의 1쪽.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[교육 단원] 08 브라우저 에이전트</a:t>
            </a:r>
          </a:p>
          <a:p xmlns:a="http://schemas.openxmlformats.org/drawingml/2006/main">
            <a:r>
              <a:t>[시간] 14:45–14:57</a:t>
            </a:r>
          </a:p>
          <a:p xmlns:a="http://schemas.openxmlformats.org/drawingml/2006/main">
            <a:r>
              <a:t>브라우저 동작 중 사용자가 다른 탭·화면을 조작하면 대상이 바뀔 수 있다. 시연에서는 한 탭에서 시작하고 완료까지 상태를 관찰한다.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SPICA 교육 커리큘럼과 기능 설명. 교육용 예시이며 실제 서비스 운영 정책은 별도 확인.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[개정 안내] 사용자 참고 이미지의 포인트 색과 입체 아이콘 방향으로 개선. 가상 화면은 실제 SPICA 화면으로 교체 가능.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IMG_6777.jpeg, IMG_6778.jpeg는 시각 방향 참고. 본 개정의 3D 이미지와 아이콘은 원본 생성 자산.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[편집 참고] 통합본 79쪽 · 분할본 05의 2쪽.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[교육 단원] 08 브라우저 에이전트</a:t>
            </a:r>
          </a:p>
          <a:p xmlns:a="http://schemas.openxmlformats.org/drawingml/2006/main">
            <a:r>
              <a:t>[시간] 14:45–14:57</a:t>
            </a:r>
          </a:p>
          <a:p xmlns:a="http://schemas.openxmlformats.org/drawingml/2006/main">
            <a:r>
              <a:t>성공률이나 속도 수치를 근거 없이 제시하지 않는다. CAPTCHA, 사내 인증서·권한 제한, iframe·커스텀 UI, 다운로드 팝업 등은 사례로만 설명한다. 인증은 사용자가 직접 한다. 재개 시 이미 처리된 작업이 무엇인지 확인하고 중복 실행을 피한다.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SPICA 교육 커리큘럼과 기능 설명. 교육용 예시이며 실제 서비스 운영 정책은 별도 확인.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[개정 안내] 사용자 참고 이미지의 포인트 색과 입체 아이콘 방향으로 개선. 가상 화면은 실제 SPICA 화면으로 교체 가능.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IMG_6777.jpeg, IMG_6778.jpeg는 시각 방향 참고. 본 개정의 3D 이미지와 아이콘은 원본 생성 자산.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[편집 참고] 통합본 80쪽 · 분할본 05의 3쪽.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[화면 안내] ① 멈춘 이유 확인   ② 본인이 직접 인증   ③ 인증 후 계속</a:t>
            </a:r>
          </a:p>
          <a:p xmlns:a="http://schemas.openxmlformats.org/drawingml/2006/main">
            <a:r>
              <a:t>이 슬라이드는 교육용 가상 화면이며 실제 제품의 UI 명세가 아니다. 화면 이미지를 선택하여 실제 화면으로 교체할 수 있다. 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SPICA 제품 구성, 모든 데이터의 사내 보관, 브라우저 권한 활용, 사내 업무·오피스·프록시 지식 탑재는 사용자 제공 설명. 신규 화면 이미지는 요청에 따라 제작한 교육용 가상 이미지.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[편집 참고] 통합본 81쪽 · 분할본 05의 4쪽.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[교육 단원] 08 브라우저 에이전트</a:t>
            </a:r>
          </a:p>
          <a:p xmlns:a="http://schemas.openxmlformats.org/drawingml/2006/main">
            <a:r>
              <a:t>[시간] Q&amp;A · 3분</a:t>
            </a:r>
          </a:p>
          <a:p xmlns:a="http://schemas.openxmlformats.org/drawingml/2006/main">
            <a:r>
              <a:t>Q&amp;A 시간을 보장한다. 질문이 없으면 제시된 질문으로 짝과 확인한다.</a:t>
            </a:r>
          </a:p>
          <a:p xmlns:a="http://schemas.openxmlformats.org/drawingml/2006/main">
            <a:r>
              <a:t>현재 화면, 마지막 성공 단계, 오류 또는 승인 요청을 보여 준다. 실행 중에는 대상 화면이 바뀌지 않도록 관찰하고 필요한 조작은 일시 중지 후 수행한다.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SPICA 교육 커리큘럼과 기능 설명. 교육용 예시이며 실제 서비스 운영 정책은 별도 확인.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[개정 안내] 사용자 참고 이미지의 포인트 색과 입체 아이콘 방향으로 개선. 가상 화면은 실제 SPICA 화면으로 교체 가능.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IMG_6777.jpeg, IMG_6778.jpeg는 시각 방향 참고. 본 개정의 3D 이미지와 아이콘은 원본 생성 자산.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[편집 참고] 통합본 82쪽 · 분할본 05의 5쪽.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긴 현재 페이지에서 근거를 찾아 답합니다</a:t>
            </a:r>
          </a:p>
          <a:p xmlns:a="http://schemas.openxmlformats.org/drawingml/2006/main">
            <a:r>
              <a:t>[편집 참고] 통합본 83쪽 · 분할본 05의 6쪽.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페이지 Q&amp;A·관련 검색·번역을 구분합니다</a:t>
            </a:r>
          </a:p>
          <a:p xmlns:a="http://schemas.openxmlformats.org/drawingml/2006/main">
            <a:r>
              <a:t>페이지의 사실과 외부 웹의 일반 정보를 분리합니다.</a:t>
            </a:r>
          </a:p>
          <a:p xmlns:a="http://schemas.openxmlformats.org/drawingml/2006/main">
            <a:r>
              <a:t>[편집 참고] 통합본 84쪽 · 분할본 05의 7쪽.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페이지의 빈 정보를 추측하지 않습니다</a:t>
            </a:r>
          </a:p>
          <a:p xmlns:a="http://schemas.openxmlformats.org/drawingml/2006/main">
            <a:r>
              <a:t>상세 원문  P17 27쪽</a:t>
            </a:r>
          </a:p>
          <a:p xmlns:a="http://schemas.openxmlformats.org/drawingml/2006/main">
            <a:r>
              <a:t>긴 공지의 전체 본문을 읽고 질문에 답해 줘.</a:t>
            </a:r>
          </a:p>
          <a:p xmlns:a="http://schemas.openxmlformats.org/drawingml/2006/main">
            <a:r>
              <a:t>일시·장소·준비물·결과 저장 위치를 확인하고,</a:t>
            </a:r>
          </a:p>
          <a:p xmlns:a="http://schemas.openxmlformats.org/drawingml/2006/main">
            <a:r>
              <a:t>각 답변에 근거 절과 문장을 붙여 줘.</a:t>
            </a:r>
          </a:p>
          <a:p xmlns:a="http://schemas.openxmlformats.org/drawingml/2006/main">
            <a:r>
              <a:t>참가비·취소 방법이 없으면 없다고 표시해.</a:t>
            </a:r>
          </a:p>
          <a:p xmlns:a="http://schemas.openxmlformats.org/drawingml/2006/main">
            <a:r>
              <a:t>결과 확인  답·근거 절·페이지에 없는 정보</a:t>
            </a:r>
          </a:p>
          <a:p xmlns:a="http://schemas.openxmlformats.org/drawingml/2006/main">
            <a:r>
              <a:t>[편집 참고] 통합본 85쪽 · 분할본 05의 8쪽.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9 화면 · 긴 공지의 절별 근거를 찾습니다</a:t>
            </a:r>
          </a:p>
          <a:p xmlns:a="http://schemas.openxmlformats.org/drawingml/2006/main">
            <a:r>
              <a:t>① 본문 전체   ② 근거 절   ③ 외부 정보와 구분</a:t>
            </a:r>
          </a:p>
          <a:p xmlns:a="http://schemas.openxmlformats.org/drawingml/2006/main">
            <a:r>
              <a:t>[편집 참고] 통합본 86쪽 · 분할본 05의 9쪽.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9. 긴 페이지 Q&amp;A·검색·번역</a:t>
            </a:r>
          </a:p>
          <a:p xmlns:a="http://schemas.openxmlformats.org/drawingml/2006/main">
            <a:r>
              <a:t>페이지와 외부 웹 정보를 구분하며 활용합니다.</a:t>
            </a:r>
          </a:p>
          <a:p xmlns:a="http://schemas.openxmlformats.org/drawingml/2006/main">
            <a:r>
              <a:t>5분 · 긴 페이지에서 질문과 근거 문장 찾기</a:t>
            </a:r>
          </a:p>
          <a:p xmlns:a="http://schemas.openxmlformats.org/drawingml/2006/main">
            <a:r>
              <a:t>5분 · 궁금한 주제를 공개 웹 원문으로 확인</a:t>
            </a:r>
          </a:p>
          <a:p xmlns:a="http://schemas.openxmlformats.org/drawingml/2006/main">
            <a:r>
              <a:t>5분 · 영어 번역, 날짜·숫자·미정 여부 대조</a:t>
            </a:r>
          </a:p>
          <a:p xmlns:a="http://schemas.openxmlformats.org/drawingml/2006/main">
            <a:r>
              <a:t>완료 기준  근거 Q&amp;A + 외부 링크 + 번역</a:t>
            </a:r>
          </a:p>
          <a:p xmlns:a="http://schemas.openxmlformats.org/drawingml/2006/main">
            <a:r>
              <a:t>P17 27쪽 · P18 28쪽 · B01 32쪽</a:t>
            </a:r>
          </a:p>
          <a:p xmlns:a="http://schemas.openxmlformats.org/drawingml/2006/main">
            <a:r>
              <a:t>[편집 참고] 통합본 87쪽 · 분할본 05의 10쪽.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[교육 단원] 09 페이지 기반 작업</a:t>
            </a:r>
          </a:p>
          <a:p xmlns:a="http://schemas.openxmlformats.org/drawingml/2006/main">
            <a:r>
              <a:t>[시간] Q&amp;A · 3분</a:t>
            </a:r>
          </a:p>
          <a:p xmlns:a="http://schemas.openxmlformats.org/drawingml/2006/main">
            <a:r>
              <a:t>Q&amp;A 시간을 보장한다. 질문이 없으면 제시된 질문으로 짝과 확인한다.</a:t>
            </a:r>
          </a:p>
          <a:p xmlns:a="http://schemas.openxmlformats.org/drawingml/2006/main">
            <a:r>
              <a:t>원문 근거가 없는 답은 미확인으로 표시하고 범위를 명시해 다시 요청한다. 첨부는 실제로 열고 읽었는지 별도로 확인한다.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SPICA 교육 커리큘럼과 기능 설명. 교육용 예시이며 실제 서비스 운영 정책은 별도 확인.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[개정 안내] 사용자 참고 이미지의 포인트 색과 입체 아이콘 방향으로 개선. 가상 화면은 실제 SPICA 화면으로 교체 가능.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IMG_6777.jpeg, IMG_6778.jpeg는 시각 방향 참고. 본 개정의 3D 이미지와 아이콘은 원본 생성 자산.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[편집 참고] 통합본 88쪽 · 분할본 05의 11쪽.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같은 사이트도 WebMCP 유무가 다릅니다</a:t>
            </a:r>
          </a:p>
          <a:p xmlns:a="http://schemas.openxmlformats.org/drawingml/2006/main">
            <a:r>
              <a:t>데모 사이트 1A · 미연결</a:t>
            </a:r>
          </a:p>
          <a:p xmlns:a="http://schemas.openxmlformats.org/drawingml/2006/main">
            <a:r>
              <a:t>화면에서 조건 선택</a:t>
            </a:r>
          </a:p>
          <a:p xmlns:a="http://schemas.openxmlformats.org/drawingml/2006/main">
            <a:r>
              <a:t>조회 월·부서를 클릭해 입력</a:t>
            </a:r>
          </a:p>
          <a:p xmlns:a="http://schemas.openxmlformats.org/drawingml/2006/main">
            <a:r>
              <a:t>버튼과 표를 읽기</a:t>
            </a:r>
          </a:p>
          <a:p xmlns:a="http://schemas.openxmlformats.org/drawingml/2006/main">
            <a:r>
              <a:t>조회 후 화면의 숫자를 확인</a:t>
            </a:r>
          </a:p>
          <a:p xmlns:a="http://schemas.openxmlformats.org/drawingml/2006/main">
            <a:r>
              <a:t>화면 변화에 대응</a:t>
            </a:r>
          </a:p>
          <a:p xmlns:a="http://schemas.openxmlformats.org/drawingml/2006/main">
            <a:r>
              <a:t>배치·로딩·팝업을 확인해야 함</a:t>
            </a:r>
          </a:p>
          <a:p xmlns:a="http://schemas.openxmlformats.org/drawingml/2006/main">
            <a:r>
              <a:t>데모 사이트 1B · 연결</a:t>
            </a:r>
          </a:p>
          <a:p xmlns:a="http://schemas.openxmlformats.org/drawingml/2006/main">
            <a:r>
              <a:t>조회 도구가 노출됨</a:t>
            </a:r>
          </a:p>
          <a:p xmlns:a="http://schemas.openxmlformats.org/drawingml/2006/main">
            <a:r>
              <a:t>동일한 교육비 데이터 사용</a:t>
            </a:r>
          </a:p>
          <a:p xmlns:a="http://schemas.openxmlformats.org/drawingml/2006/main">
            <a:r>
              <a:t>조건을 도구에 전달</a:t>
            </a:r>
          </a:p>
          <a:p xmlns:a="http://schemas.openxmlformats.org/drawingml/2006/main">
            <a:r>
              <a:t>구조화된 항목과 합계를 받음</a:t>
            </a:r>
          </a:p>
          <a:p xmlns:a="http://schemas.openxmlformats.org/drawingml/2006/main">
            <a:r>
              <a:t>지원 상태를 확인</a:t>
            </a:r>
          </a:p>
          <a:p xmlns:a="http://schemas.openxmlformats.org/drawingml/2006/main">
            <a:r>
              <a:t>미지원이면 화면 조회와 구분</a:t>
            </a:r>
          </a:p>
          <a:p xmlns:a="http://schemas.openxmlformats.org/drawingml/2006/main">
            <a:r>
              <a:t>[편집 참고] 통합본 89쪽 · 분할본 05의 12쪽.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1A에서는 화면으로 같은 데이터를 조회합니다</a:t>
            </a:r>
          </a:p>
          <a:p xmlns:a="http://schemas.openxmlformats.org/drawingml/2006/main">
            <a:r>
              <a:t>[편집 참고] 통합본 90쪽 · 분할본 05의 13쪽.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1B에서는 WebMCP 조회 도구를 사용합니다</a:t>
            </a:r>
          </a:p>
          <a:p xmlns:a="http://schemas.openxmlformats.org/drawingml/2006/main">
            <a:r>
              <a:t>① 도구 연결 상태   ② 같은 조회 조건   ③ 같은 결과</a:t>
            </a:r>
          </a:p>
          <a:p xmlns:a="http://schemas.openxmlformats.org/drawingml/2006/main">
            <a:r>
              <a:t>[편집 참고] 통합본 91쪽 · 분할본 05의 14쪽.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속도보다 먼저 수행 방식과 결과를 비교합니다</a:t>
            </a:r>
          </a:p>
          <a:p xmlns:a="http://schemas.openxmlformats.org/drawingml/2006/main">
            <a:r>
              <a:t>같은 입력</a:t>
            </a:r>
          </a:p>
          <a:p xmlns:a="http://schemas.openxmlformats.org/drawingml/2006/main">
            <a:r>
              <a:t>두 사이트 모두 2026-09 · 경영지원으로 조회</a:t>
            </a:r>
          </a:p>
          <a:p xmlns:a="http://schemas.openxmlformats.org/drawingml/2006/main">
            <a:r>
              <a:t>다른 수행 방식</a:t>
            </a:r>
          </a:p>
          <a:p xmlns:a="http://schemas.openxmlformats.org/drawingml/2006/main">
            <a:r>
              <a:t>1A 화면 조작 / 1B 연결된 도구 호출</a:t>
            </a:r>
          </a:p>
          <a:p xmlns:a="http://schemas.openxmlformats.org/drawingml/2006/main">
            <a:r>
              <a:t>동일한 업무 결과</a:t>
            </a:r>
          </a:p>
          <a:p xmlns:a="http://schemas.openxmlformats.org/drawingml/2006/main">
            <a:r>
              <a:t>항목 5개 · 예산 400만원 · 실적 418만원 대조</a:t>
            </a:r>
          </a:p>
          <a:p xmlns:a="http://schemas.openxmlformats.org/drawingml/2006/main">
            <a:r>
              <a:t>[편집 참고] 통합본 92쪽 · 분할본 05의 15쪽.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10. WebMCP 없는 사이트와 비교</a:t>
            </a:r>
          </a:p>
          <a:p xmlns:a="http://schemas.openxmlformats.org/drawingml/2006/main">
            <a:r>
              <a:t>같은 데이터의 화면 조회와 도구 조회를 비교합니다.</a:t>
            </a:r>
          </a:p>
          <a:p xmlns:a="http://schemas.openxmlformats.org/drawingml/2006/main">
            <a:r>
              <a:t>3분 · 데모 1A에서 월·부서를 선택하고 조회</a:t>
            </a:r>
          </a:p>
          <a:p xmlns:a="http://schemas.openxmlformats.org/drawingml/2006/main">
            <a:r>
              <a:t>3분 · 데모 1B에서 연결된 조회 도구 호출</a:t>
            </a:r>
          </a:p>
          <a:p xmlns:a="http://schemas.openxmlformats.org/drawingml/2006/main">
            <a:r>
              <a:t>2분 · 조건·합계·수행 방식 차이 확인</a:t>
            </a:r>
          </a:p>
          <a:p xmlns:a="http://schemas.openxmlformats.org/drawingml/2006/main">
            <a:r>
              <a:t>완료 기준  같은 결과 확인, 미지원은 구분</a:t>
            </a:r>
          </a:p>
          <a:p xmlns:a="http://schemas.openxmlformats.org/drawingml/2006/main">
            <a:r>
              <a:t>[편집 참고] 통합본 93쪽 · 분할본 05의 16쪽.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[교육 단원] 10 딥링크 / WebMCP</a:t>
            </a:r>
          </a:p>
          <a:p xmlns:a="http://schemas.openxmlformats.org/drawingml/2006/main">
            <a:r>
              <a:t>[시간] Q&amp;A · 3분</a:t>
            </a:r>
          </a:p>
          <a:p xmlns:a="http://schemas.openxmlformats.org/drawingml/2006/main">
            <a:r>
              <a:t>Q&amp;A 시간을 보장한다. 질문이 없으면 제시된 질문으로 짝과 확인한다.</a:t>
            </a:r>
          </a:p>
          <a:p xmlns:a="http://schemas.openxmlformats.org/drawingml/2006/main">
            <a:r>
              <a:t>딥링크는 이동이며 완료 상태는 별도 확인한다. WebMCP는 사이트의 도구 제공과 에이전트의 연동 지원이 필요하다.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SPICA 교육 커리큘럼과 기능 설명. 교육용 예시이며 실제 서비스 운영 정책은 별도 확인.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[개정 안내] 사용자 참고 이미지의 포인트 색과 입체 아이콘 방향으로 개선. 가상 화면은 실제 SPICA 화면으로 교체 가능.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IMG_6777.jpeg, IMG_6778.jpeg는 시각 방향 참고. 본 개정의 3D 이미지와 아이콘은 원본 생성 자산.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[편집 참고] 통합본 94쪽 · 분할본 05의 17쪽.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[교육 단원] 10 딥링크 / WebMCP</a:t>
            </a:r>
          </a:p>
          <a:p xmlns:a="http://schemas.openxmlformats.org/drawingml/2006/main">
            <a:r>
              <a:t>[시간] 15:40–15:50 · 10분</a:t>
            </a:r>
          </a:p>
          <a:p xmlns:a="http://schemas.openxmlformats.org/drawingml/2006/main">
            <a:r>
              <a:t>정해진 재개 시각을 안내한다. 휴식은 설명 지연을 메우는 시간으로 사용하지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SPICA 교육 커리큘럼과 기능 설명. 교육용 예시이며 실제 서비스 운영 정책은 별도 확인.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[개정 안내] 사용자 참고 이미지의 포인트 색과 입체 아이콘 방향으로 개선. 가상 화면은 실제 SPICA 화면으로 교체 가능.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IMG_6777.jpeg, IMG_6778.jpeg는 시각 방향 참고. 본 개정의 3D 이미지와 아이콘은 원본 생성 자산.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[편집 참고] 통합본 95쪽 · 분할본 05의 18쪽.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[교육 단원] 11 Replay+</a:t>
            </a:r>
          </a:p>
          <a:p xmlns:a="http://schemas.openxmlformats.org/drawingml/2006/main">
            <a:r>
              <a:t>[시간] 15:50–16:25</a:t>
            </a:r>
          </a:p>
          <a:p xmlns:a="http://schemas.openxmlformats.org/drawingml/2006/main">
            <a:r>
              <a:t>10분 설명·시연. 사용자 설명의 Replay+ 기능과 소프트 스킬 지원에 기반한다. 소프트 스킬은 여기서 화면 클릭 외 자연어 업무 지침을 의미하는 교육용 설명이다. 실제 제품 용어·저장 형식·변수 지원·지침 실행 방식은 사전 확인한다. 모든 RPA가 단순 좌표 재생만 한다거나 Replay+가 화면 변경을 항상 해결한다고 설명하지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SPICA 교육 커리큘럼과 기능 설명. 교육용 예시이며 실제 서비스 운영 정책은 별도 확인.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[개정 안내] 사용자 참고 이미지의 포인트 색과 입체 아이콘 방향으로 개선. 가상 화면은 실제 SPICA 화면으로 교체 가능.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IMG_6777.jpeg, IMG_6778.jpeg는 시각 방향 참고. 본 개정의 3D 이미지와 아이콘은 원본 생성 자산.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[편집 참고] 통합본 96쪽 · 분할본 05의 19쪽.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[교육 단원] 11 Replay+</a:t>
            </a:r>
          </a:p>
          <a:p xmlns:a="http://schemas.openxmlformats.org/drawingml/2006/main">
            <a:r>
              <a:t>[시간] 15:50–16:25</a:t>
            </a:r>
          </a:p>
          <a:p xmlns:a="http://schemas.openxmlformats.org/drawingml/2006/main">
            <a:r>
              <a:t>교육 포털 로그인 후 시작. Replay+ 기록 시작 → 조회 월 선택 → 조회 → 다운로드 → 파일 저장 확인 → 기록 종료. 기록을 시작하기 전에 로그인한다. 비밀번호·인증 코드 입력은 기록 대상에 넣지 않는다. 사내 테스트 내역 파일로 진행한다.</a:t>
            </a:r>
          </a:p>
          <a:p xmlns:a="http://schemas.openxmlformats.org/drawingml/2006/main">
            <a:r>
              <a:t>[화면 교체] 교육용 가상화면이다. 슬라이드의 단일 그림을 PowerPoint 그림 변경으로 실제 화면과 교체한다. 주요 조작 영역 중심 16:9 캡처를 권장한다. 화면 식별자: replay. 실제 SPICA에서 메뉴명과 동작을 검증한 뒤 교체한다.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SPICA 교육 커리큘럼과 기능 설명. 교육용 예시이며 실제 서비스 운영 정책은 별도 확인.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[개정 안내] 사용자 참고 이미지의 포인트 색과 입체 아이콘 방향으로 개선. 가상 화면은 실제 SPICA 화면으로 교체 가능.</a:t>
            </a:r>
          </a:p>
          <a:p xmlns:a="http://schemas.openxmlformats.org/drawingml/2006/main">
            <a:r>
              <a:t>[상세 복사 원문]</a:t>
            </a:r>
          </a:p>
          <a:p xmlns:a="http://schemas.openxmlformats.org/drawingml/2006/main">
            <a:r>
              <a:t>P20 30쪽</a:t>
            </a:r>
          </a:p>
          <a:p xmlns:a="http://schemas.openxmlformats.org/drawingml/2006/main">
            <a:r>
              <a:t>방금 기록한 교육비 조회·다운로드 절차를 정리해 줘.</a:t>
            </a:r>
          </a:p>
          <a:p xmlns:a="http://schemas.openxmlformats.org/drawingml/2006/main">
            <a:r>
              <a:t>이름은 ‘월별 교육비 내려받기’로 해 줘.</a:t>
            </a:r>
          </a:p>
          <a:p xmlns:a="http://schemas.openxmlformats.org/drawingml/2006/main">
            <a:r>
              <a:t>시작 조건: 본인이 교육 포털에 로그인하고 교육비 화면을 연 상태</a:t>
            </a:r>
          </a:p>
          <a:p xmlns:a="http://schemas.openxmlformats.org/drawingml/2006/main">
            <a:r>
              <a:t>매번 바뀌는 값: 조회 월·부서·저장 폴더</a:t>
            </a:r>
          </a:p>
          <a:p xmlns:a="http://schemas.openxmlformats.org/drawingml/2006/main">
            <a:r>
              <a:t>기록 단계가 월 선택 → 조회 → 다운로드 순서인지 확인해 줘.</a:t>
            </a:r>
          </a:p>
          <a:p xmlns:a="http://schemas.openxmlformats.org/drawingml/2006/main">
            <a:r>
              <a:t>로그인·추가 인증은 내가 직접 할 수 있도록 멈춰 줘.</a:t>
            </a:r>
          </a:p>
          <a:p xmlns:a="http://schemas.openxmlformats.org/drawingml/2006/main">
            <a:r>
              <a:t>다운로드 결과 파일의 월과 이름을 확인하는 단계를 포함해 줘.</a:t>
            </a:r>
          </a:p>
          <a:p xmlns:a="http://schemas.openxmlformats.org/drawingml/2006/main">
            <a:r>
              <a:t>업무 지침: 결과를 쉬운 한국어 3줄로 요약해 줘.</a:t>
            </a:r>
          </a:p>
          <a:p xmlns:a="http://schemas.openxmlformats.org/drawingml/2006/main">
            <a:r>
              <a:t>완료 조건: 요청한 월의 파일 1개가 저장되고 실제로 열림</a:t>
            </a:r>
          </a:p>
          <a:p xmlns:a="http://schemas.openxmlformats.org/drawingml/2006/main">
            <a:r>
              <a:t>저장 전에 절차와 입력값을 보여 주고 누락 단계가 있으면 알려 줘.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IMG_6777.jpeg, IMG_6778.jpeg는 시각 방향 참고. 본 개정의 3D 이미지와 아이콘은 원본 생성 자산.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[편집 참고] 통합본 97쪽 · 분할본 05의 20쪽.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성공한 다운로드 절차를 스킬로 저장합니다</a:t>
            </a:r>
          </a:p>
          <a:p xmlns:a="http://schemas.openxmlformats.org/drawingml/2006/main">
            <a:r>
              <a:t>달라지는 입력</a:t>
            </a:r>
          </a:p>
          <a:p xmlns:a="http://schemas.openxmlformats.org/drawingml/2006/main">
            <a:r>
              <a:t>조회 월·부서·저장 폴더를 입력으로 분리</a:t>
            </a:r>
          </a:p>
          <a:p xmlns:a="http://schemas.openxmlformats.org/drawingml/2006/main">
            <a:r>
              <a:t>기록과 지침 연결</a:t>
            </a:r>
          </a:p>
          <a:p xmlns:a="http://schemas.openxmlformats.org/drawingml/2006/main">
            <a:r>
              <a:t>Replay+ 기록과 파일 확인 방법을 함께 저장</a:t>
            </a:r>
          </a:p>
          <a:p xmlns:a="http://schemas.openxmlformats.org/drawingml/2006/main">
            <a:r>
              <a:t>다른 조건으로 검증</a:t>
            </a:r>
          </a:p>
          <a:p xmlns:a="http://schemas.openxmlformats.org/drawingml/2006/main">
            <a:r>
              <a:t>2026-10 · 인사로 재실행한 파일을 열어 확인</a:t>
            </a:r>
          </a:p>
          <a:p xmlns:a="http://schemas.openxmlformats.org/drawingml/2006/main">
            <a:r>
              <a:t>[편집 참고] 통합본 98쪽 · 분할본 05의 21쪽.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[화면 안내] ① 기록한 단계   ② 매번 바뀌는 입력값   ③ 자연어 업무 지침</a:t>
            </a:r>
          </a:p>
          <a:p xmlns:a="http://schemas.openxmlformats.org/drawingml/2006/main">
            <a:r>
              <a:t>이 슬라이드는 교육용 가상 화면이며 실제 제품의 UI 명세가 아니다. 화면 이미지를 선택하여 실제 화면으로 교체할 수 있다. P20 상세 프롬프트 159쪽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SPICA 제품 구성, 모든 데이터의 사내 보관, 브라우저 권한 활용, 사내 업무·오피스·프록시 지식 탑재는 사용자 제공 설명. 신규 화면 이미지는 요청에 따라 제작한 교육용 가상 이미지.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[편집 참고] 통합본 99쪽 · 분할본 05의 22쪽.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11 화면 · 데모에서 Excel을 내려받습니다</a:t>
            </a:r>
          </a:p>
          <a:p xmlns:a="http://schemas.openxmlformats.org/drawingml/2006/main">
            <a:r>
              <a:t>① 월·부서 선택   ② 다운로드 확인   ③ 파일 열기</a:t>
            </a:r>
          </a:p>
          <a:p xmlns:a="http://schemas.openxmlformats.org/drawingml/2006/main">
            <a:r>
              <a:t>[편집 참고] 통합본 100쪽 · 분할본 05의 23쪽.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11. 다운로드를 기록하고 스킬로</a:t>
            </a:r>
          </a:p>
          <a:p xmlns:a="http://schemas.openxmlformats.org/drawingml/2006/main">
            <a:r>
              <a:t>다운로드 1회를 성공시키고 재사용합니다.</a:t>
            </a:r>
          </a:p>
          <a:p xmlns:a="http://schemas.openxmlformats.org/drawingml/2006/main">
            <a:r>
              <a:t>7분 · 데모 조회·다운로드 기록, 실제 파일 열기</a:t>
            </a:r>
          </a:p>
          <a:p xmlns:a="http://schemas.openxmlformats.org/drawingml/2006/main">
            <a:r>
              <a:t>8분 · 입력과 완료 기준을 스킬로 저장</a:t>
            </a:r>
          </a:p>
          <a:p xmlns:a="http://schemas.openxmlformats.org/drawingml/2006/main">
            <a:r>
              <a:t>5분 · 다른 월·부서로 재실행한 파일 확인</a:t>
            </a:r>
          </a:p>
          <a:p xmlns:a="http://schemas.openxmlformats.org/drawingml/2006/main">
            <a:r>
              <a:t>완료 기준  다운로드 파일 + 재사용 스킬 + 재실행</a:t>
            </a:r>
          </a:p>
          <a:p xmlns:a="http://schemas.openxmlformats.org/drawingml/2006/main">
            <a:r>
              <a:t>[편집 참고] 통합본 101쪽 · 분할본 05의 24쪽.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[교육 단원] 11 Replay+</a:t>
            </a:r>
          </a:p>
          <a:p xmlns:a="http://schemas.openxmlformats.org/drawingml/2006/main">
            <a:r>
              <a:t>[시간] Q&amp;A · 5분</a:t>
            </a:r>
          </a:p>
          <a:p xmlns:a="http://schemas.openxmlformats.org/drawingml/2006/main">
            <a:r>
              <a:t>Q&amp;A 시간을 보장한다. 질문이 없으면 제시된 질문으로 짝과 확인한다.</a:t>
            </a:r>
          </a:p>
          <a:p xmlns:a="http://schemas.openxmlformats.org/drawingml/2006/main">
            <a:r>
              <a:t>월 선택, 결과 필터, 파일 내용의 월을 모두 확인한다. 마지막 성공 단계와 이미 다운로드한 파일 여부부터 확인한다. 자연어 지침을 실행 절차와 함께 저장할 수 있는지 배포본에서 확인한다.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SPICA 교육 커리큘럼과 기능 설명. 교육용 예시이며 실제 서비스 운영 정책은 별도 확인.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[개정 안내] 사용자 참고 이미지의 포인트 색과 입체 아이콘 방향으로 개선. 가상 화면은 실제 SPICA 화면으로 교체 가능.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IMG_6777.jpeg, IMG_6778.jpeg는 시각 방향 참고. 본 개정의 3D 이미지와 아이콘은 원본 생성 자산.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[편집 참고] 통합본 102쪽 · 분할본 05의 25쪽.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[교육 단원] 부록 · 필요할 때 찾아보기</a:t>
            </a:r>
          </a:p>
          <a:p xmlns:a="http://schemas.openxmlformats.org/drawingml/2006/main">
            <a:r>
              <a:t>[시간] 참고 자료</a:t>
            </a:r>
          </a:p>
          <a:p xmlns:a="http://schemas.openxmlformats.org/drawingml/2006/main">
            <a:r>
              <a:t>이 내용으로 교육용 사내 페이지를 준비한다. 다운로드 실습 페이지에는 교육비.xlsx와 조회 월 필터를 별도로 제공한다. 공지의 없는 정보를 모델이 만들어내지 않는지 점검한다.</a:t>
            </a:r>
          </a:p>
          <a:p xmlns:a="http://schemas.openxmlformats.org/drawingml/2006/main">
            <a:r>
              <a:t>[복사할 입력문]</a:t>
            </a:r>
          </a:p>
          <a:p xmlns:a="http://schemas.openxmlformats.org/drawingml/2006/main">
            <a:r>
              <a:t>교육 신청 안내</a:t>
            </a:r>
          </a:p>
          <a:p xmlns:a="http://schemas.openxmlformats.org/drawingml/2006/main">
            <a:r>
              <a:t>대상: 신입사원 60명</a:t>
            </a:r>
          </a:p>
          <a:p xmlns:a="http://schemas.openxmlformats.org/drawingml/2006/main">
            <a:r>
              <a:t>일시: 2026년 9월 18일 14:00–17:00</a:t>
            </a:r>
          </a:p>
          <a:p xmlns:a="http://schemas.openxmlformats.org/drawingml/2006/main">
            <a:r>
              <a:t>접수 마감: 2026년 9월 11일 17:00</a:t>
            </a:r>
          </a:p>
          <a:p xmlns:a="http://schemas.openxmlformats.org/drawingml/2006/main">
            <a:r>
              <a:t>준비물: 노트북  /  장소: 교육장 A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SPICA 교육 커리큘럼과 기능 설명. 교육용 예시이며 실제 서비스 운영 정책은 별도 확인.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[개정 안내] 사용자 참고 이미지의 포인트 색과 입체 아이콘 방향으로 개선. 가상 화면은 실제 SPICA 화면으로 교체 가능.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IMG_6777.jpeg, IMG_6778.jpeg는 시각 방향 참고. 본 개정의 3D 이미지와 아이콘은 원본 생성 자산.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[편집 참고] 통합본 136쪽 · 분할본 05의 26쪽.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열린 긴 교육 공지 페이지 전체를 읽어 줘.</a:t>
            </a:r>
          </a:p>
          <a:p xmlns:a="http://schemas.openxmlformats.org/drawingml/2006/main">
            <a:r>
              <a:t>본문 끝까지 읽었는지와 읽지 못한 범위를 알려 줘.</a:t>
            </a:r>
          </a:p>
          <a:p xmlns:a="http://schemas.openxmlformats.org/drawingml/2006/main">
            <a:r>
              <a:t>아래 질문에 현재 페이지의 근거만 사용해 답해.</a:t>
            </a:r>
          </a:p>
          <a:p xmlns:a="http://schemas.openxmlformats.org/drawingml/2006/main">
            <a:r>
              <a:t>대상·일시·장소·신청 마감·준비물은 무엇이야?</a:t>
            </a:r>
          </a:p>
          <a:p xmlns:a="http://schemas.openxmlformats.org/drawingml/2006/main">
            <a:r>
              <a:t>실습 결과는 어디에 저장하고 무엇을 공유하나요?</a:t>
            </a:r>
          </a:p>
          <a:p xmlns:a="http://schemas.openxmlformats.org/drawingml/2006/main">
            <a:r>
              <a:t>참가비와 취소 방법도 안내되어 있나요?</a:t>
            </a:r>
          </a:p>
          <a:p xmlns:a="http://schemas.openxmlformats.org/drawingml/2006/main">
            <a:r>
              <a:t>표는 질문 / 답 / 근거 절 / 근거 문장으로 만들어.</a:t>
            </a:r>
          </a:p>
          <a:p xmlns:a="http://schemas.openxmlformats.org/drawingml/2006/main">
            <a:r>
              <a:t>없으면 “페이지에 정보 없음”이라고 표시해.</a:t>
            </a:r>
          </a:p>
          <a:p xmlns:a="http://schemas.openxmlformats.org/drawingml/2006/main">
            <a:r>
              <a:t>메뉴·다른 사이트 내용은 본문 사실과 섞지 마.</a:t>
            </a:r>
          </a:p>
          <a:p xmlns:a="http://schemas.openxmlformats.org/drawingml/2006/main">
            <a:r>
              <a:t>등록·신청 버튼을 누르지 말고 답변만 보여 줘.</a:t>
            </a:r>
          </a:p>
          <a:p xmlns:a="http://schemas.openxmlformats.org/drawingml/2006/main">
            <a:r>
              <a:t>완료 기준: 답과 근거 절·없는 정보가 구분됨</a:t>
            </a:r>
          </a:p>
          <a:p xmlns:a="http://schemas.openxmlformats.org/drawingml/2006/main">
            <a:r>
              <a:t>[편집 참고] 통합본 156쪽 · 분할본 05의 27쪽.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열린 교육 공지를 쉬운 업무 영어로 번역해 줘.</a:t>
            </a:r>
          </a:p>
          <a:p xmlns:a="http://schemas.openxmlformats.org/drawingml/2006/main">
            <a:r>
              <a:t>먼저 페이지 제목과 번역할 본문 범위를 확인해.</a:t>
            </a:r>
          </a:p>
          <a:p xmlns:a="http://schemas.openxmlformats.org/drawingml/2006/main">
            <a:r>
              <a:t>제목·소제목·표의 순서는 원문과 같게 유지해.</a:t>
            </a:r>
          </a:p>
          <a:p xmlns:a="http://schemas.openxmlformats.org/drawingml/2006/main">
            <a:r>
              <a:t>날짜·한국 시간·금액·인원·장소는 바꾸지 마.</a:t>
            </a:r>
          </a:p>
          <a:p xmlns:a="http://schemas.openxmlformats.org/drawingml/2006/main">
            <a:r>
              <a:t>사내 용어는 영어 뜻과 원래 한국어를 함께 써 줘.</a:t>
            </a:r>
          </a:p>
          <a:p xmlns:a="http://schemas.openxmlformats.org/drawingml/2006/main">
            <a:r>
              <a:t>미확정·확인 필요 같은 상태를 확정으로 바꾸지 마.</a:t>
            </a:r>
          </a:p>
          <a:p xmlns:a="http://schemas.openxmlformats.org/drawingml/2006/main">
            <a:r>
              <a:t>길면 절별로 나누고 번역하지 않은 범위를 알려 줘.</a:t>
            </a:r>
          </a:p>
          <a:p xmlns:a="http://schemas.openxmlformats.org/drawingml/2006/main">
            <a:r>
              <a:t>마지막에 외국인 동료용 핵심 안내 5줄을 붙여 줘.</a:t>
            </a:r>
          </a:p>
          <a:p xmlns:a="http://schemas.openxmlformats.org/drawingml/2006/main">
            <a:r>
              <a:t>숫자와 필수 준비물을 원문과 한 번 더 대조해.</a:t>
            </a:r>
          </a:p>
          <a:p xmlns:a="http://schemas.openxmlformats.org/drawingml/2006/main">
            <a:r>
              <a:t>02_결과/교육공지_영문.md로 저장하고 보여 줘.</a:t>
            </a:r>
          </a:p>
          <a:p xmlns:a="http://schemas.openxmlformats.org/drawingml/2006/main">
            <a:r>
              <a:t>완료 기준: 제목 구조·숫자·확정 여부를 보존한 번역</a:t>
            </a:r>
          </a:p>
          <a:p xmlns:a="http://schemas.openxmlformats.org/drawingml/2006/main">
            <a:r>
              <a:t>[편집 참고] 통합본 157쪽 · 분할본 05의 28쪽.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데모 사이트 1A와 1B를 같은 조건으로 비교할 거야.</a:t>
            </a:r>
          </a:p>
          <a:p xmlns:a="http://schemas.openxmlformats.org/drawingml/2006/main">
            <a:r>
              <a:t>먼저 WebMCP 없는 1A에서 화면을 조작해 조회해.</a:t>
            </a:r>
          </a:p>
          <a:p xmlns:a="http://schemas.openxmlformats.org/drawingml/2006/main">
            <a:r>
              <a:t>조건은 2026-09, 경영지원이며 결과를 기록해 줘.</a:t>
            </a:r>
          </a:p>
          <a:p xmlns:a="http://schemas.openxmlformats.org/drawingml/2006/main">
            <a:r>
              <a:t>다음으로 WebMCP 있는 1B를 열어 도구를 확인해.</a:t>
            </a:r>
          </a:p>
          <a:p xmlns:a="http://schemas.openxmlformats.org/drawingml/2006/main">
            <a:r>
              <a:t>get_training_expenses가 연결되면 같은 조건으로 호출해.</a:t>
            </a:r>
          </a:p>
          <a:p xmlns:a="http://schemas.openxmlformats.org/drawingml/2006/main">
            <a:r>
              <a:t>표는 사이트 / 수행 방법 / 항목 수 / 합계로 정리해.</a:t>
            </a:r>
          </a:p>
          <a:p xmlns:a="http://schemas.openxmlformats.org/drawingml/2006/main">
            <a:r>
              <a:t>두 결과의 예산·실적과 조회 조건을 대조해.</a:t>
            </a:r>
          </a:p>
          <a:p xmlns:a="http://schemas.openxmlformats.org/drawingml/2006/main">
            <a:r>
              <a:t>어떤 클릭이나 화면 탐색이 줄었는지 설명해.</a:t>
            </a:r>
          </a:p>
          <a:p xmlns:a="http://schemas.openxmlformats.org/drawingml/2006/main">
            <a:r>
              <a:t>1B 도구가 없으면 미지원이라고 정확히 표시해.</a:t>
            </a:r>
          </a:p>
          <a:p xmlns:a="http://schemas.openxmlformats.org/drawingml/2006/main">
            <a:r>
              <a:t>화면 조회를 WebMCP 호출 성공으로 표현하지 마.</a:t>
            </a:r>
          </a:p>
          <a:p xmlns:a="http://schemas.openxmlformats.org/drawingml/2006/main">
            <a:r>
              <a:t>완료 기준: 같은 조건에서 화면·도구 결과를 대조함</a:t>
            </a:r>
          </a:p>
          <a:p xmlns:a="http://schemas.openxmlformats.org/drawingml/2006/main">
            <a:r>
              <a:t>[편집 참고] 통합본 158쪽 · 분할본 05의 29쪽.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Replay+ 데모 사이트의 다운로드를 기록하고 싶어.</a:t>
            </a:r>
          </a:p>
          <a:p xmlns:a="http://schemas.openxmlformats.org/drawingml/2006/main">
            <a:r>
              <a:t>먼저 내가 익스텐션에서 기록을 시작하도록 안내해.</a:t>
            </a:r>
          </a:p>
          <a:p xmlns:a="http://schemas.openxmlformats.org/drawingml/2006/main">
            <a:r>
              <a:t>교육 계정으로 시작하고 조회 조건을 입력해 줘.</a:t>
            </a:r>
          </a:p>
          <a:p xmlns:a="http://schemas.openxmlformats.org/drawingml/2006/main">
            <a:r>
              <a:t>조건은 2026-09, 경영지원이야.</a:t>
            </a:r>
          </a:p>
          <a:p xmlns:a="http://schemas.openxmlformats.org/drawingml/2006/main">
            <a:r>
              <a:t>조회 후 월·부서·항목 수를 확인하고 Excel을 내려받아.</a:t>
            </a:r>
          </a:p>
          <a:p xmlns:a="http://schemas.openxmlformats.org/drawingml/2006/main">
            <a:r>
              <a:t>확인 창의 파일명과 금액을 보고 다운로드를 진행해.</a:t>
            </a:r>
          </a:p>
          <a:p xmlns:a="http://schemas.openxmlformats.org/drawingml/2006/main">
            <a:r>
              <a:t>실제 저장된 파일을 열어 조건과 숫자를 확인해 줘.</a:t>
            </a:r>
          </a:p>
          <a:p xmlns:a="http://schemas.openxmlformats.org/drawingml/2006/main">
            <a:r>
              <a:t>원본 폴더에 저장하되 같은 이름은 덮어쓰지 마.</a:t>
            </a:r>
          </a:p>
          <a:p xmlns:a="http://schemas.openxmlformats.org/drawingml/2006/main">
            <a:r>
              <a:t>내가 익스텐션에서 기록 종료·저장을 확인하게 해 줘.</a:t>
            </a:r>
          </a:p>
          <a:p xmlns:a="http://schemas.openxmlformats.org/drawingml/2006/main">
            <a:r>
              <a:t>로그인부터 파일 확인까지 누락 단계가 없는지 정리해.</a:t>
            </a:r>
          </a:p>
          <a:p xmlns:a="http://schemas.openxmlformats.org/drawingml/2006/main">
            <a:r>
              <a:t>완료 기준: 조건과 파일이 일치하는 다운로드 기록</a:t>
            </a:r>
          </a:p>
          <a:p xmlns:a="http://schemas.openxmlformats.org/drawingml/2006/main">
            <a:r>
              <a:t>[편집 참고] 통합본 159쪽 · 분할본 05의 30쪽.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방금 성공한 다운로드 절차를 스킬로 저장해 줘.</a:t>
            </a:r>
          </a:p>
          <a:p xmlns:a="http://schemas.openxmlformats.org/drawingml/2006/main">
            <a:r>
              <a:t>이름은 “월별 교육비 내려받기”로 해.</a:t>
            </a:r>
          </a:p>
          <a:p xmlns:a="http://schemas.openxmlformats.org/drawingml/2006/main">
            <a:r>
              <a:t>시작 조건은 데모 사이트를 열고 교육 계정으로 시작함.</a:t>
            </a:r>
          </a:p>
          <a:p xmlns:a="http://schemas.openxmlformats.org/drawingml/2006/main">
            <a:r>
              <a:t>입력은 조회 월 / 부서 / 저장 폴더로 나눠 줘.</a:t>
            </a:r>
          </a:p>
          <a:p xmlns:a="http://schemas.openxmlformats.org/drawingml/2006/main">
            <a:r>
              <a:t>Replay+ 기록을 재사용할 수 있으면 연결해 줘.</a:t>
            </a:r>
          </a:p>
          <a:p xmlns:a="http://schemas.openxmlformats.org/drawingml/2006/main">
            <a:r>
              <a:t>조회 → 파일명 확인 → 다운로드 → 파일 열기를 담아.</a:t>
            </a:r>
          </a:p>
          <a:p xmlns:a="http://schemas.openxmlformats.org/drawingml/2006/main">
            <a:r>
              <a:t>로그인·화면 변경 시 멈추고 확인하는 기준도 적어.</a:t>
            </a:r>
          </a:p>
          <a:p xmlns:a="http://schemas.openxmlformats.org/drawingml/2006/main">
            <a:r>
              <a:t>저장 후 사용법을 보여 주고 2026-10, 인사로 실행해.</a:t>
            </a:r>
          </a:p>
          <a:p xmlns:a="http://schemas.openxmlformats.org/drawingml/2006/main">
            <a:r>
              <a:t>파일의 월·부서가 첫 번째 결과와 다른지 확인해 줘.</a:t>
            </a:r>
          </a:p>
          <a:p xmlns:a="http://schemas.openxmlformats.org/drawingml/2006/main">
            <a:r>
              <a:t>저장·연결이 미지원이면 이유와 수동 대안을 알려 줘.</a:t>
            </a:r>
          </a:p>
          <a:p xmlns:a="http://schemas.openxmlformats.org/drawingml/2006/main">
            <a:r>
              <a:t>완료 기준: 입력값이 있는 스킬과 재실행 파일 확인</a:t>
            </a:r>
          </a:p>
          <a:p xmlns:a="http://schemas.openxmlformats.org/drawingml/2006/main">
            <a:r>
              <a:t>[편집 참고] 통합본 160쪽 · 분할본 05의 31쪽.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교육 공지에 나온 문서 자동화가 궁금해.</a:t>
            </a:r>
          </a:p>
          <a:p xmlns:a="http://schemas.openxmlformats.org/drawingml/2006/main">
            <a:r>
              <a:t>먼저 현재 페이지가 설명한 범위를 요약해 줘.</a:t>
            </a:r>
          </a:p>
          <a:p xmlns:a="http://schemas.openxmlformats.org/drawingml/2006/main">
            <a:r>
              <a:t>공개 웹에서 관련 최근 사례나 공식 가이드를 찾아.</a:t>
            </a:r>
          </a:p>
          <a:p xmlns:a="http://schemas.openxmlformats.org/drawingml/2006/main">
            <a:r>
              <a:t>검색에는 일반적인 “AI 문서 자동화” 표현을 써.</a:t>
            </a:r>
          </a:p>
          <a:p xmlns:a="http://schemas.openxmlformats.org/drawingml/2006/main">
            <a:r>
              <a:t>내부 명칭·인원·예산·문서 원문을 검색하지 마.</a:t>
            </a:r>
          </a:p>
          <a:p xmlns:a="http://schemas.openxmlformats.org/drawingml/2006/main">
            <a:r>
              <a:t>공식 원문 최대 3개를 열어 날짜와 내용을 확인해.</a:t>
            </a:r>
          </a:p>
          <a:p xmlns:a="http://schemas.openxmlformats.org/drawingml/2006/main">
            <a:r>
              <a:t>현재 페이지 사실 / 외부 자료 / 네 해석을 나눠 줘.</a:t>
            </a:r>
          </a:p>
          <a:p xmlns:a="http://schemas.openxmlformats.org/drawingml/2006/main">
            <a:r>
              <a:t>각 외부 주장 옆에 원문 링크를 붙여 줘.</a:t>
            </a:r>
          </a:p>
          <a:p xmlns:a="http://schemas.openxmlformats.org/drawingml/2006/main">
            <a:r>
              <a:t>외부 일반론이 우리 사내 규정인 것처럼 쓰지 마.</a:t>
            </a:r>
          </a:p>
          <a:p xmlns:a="http://schemas.openxmlformats.org/drawingml/2006/main">
            <a:r>
              <a:t>추가로 확인할 질문 3개로 마무리해 줘.</a:t>
            </a:r>
          </a:p>
          <a:p xmlns:a="http://schemas.openxmlformats.org/drawingml/2006/main">
            <a:r>
              <a:t>완료 기준: 페이지 사실·외부 근거·해석이 구분됨</a:t>
            </a:r>
          </a:p>
          <a:p xmlns:a="http://schemas.openxmlformats.org/drawingml/2006/main">
            <a:r>
              <a:t>[편집 참고] 통합본 140쪽 · 분할본 05의 32쪽.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f0d2089fc46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03558d71044c6b" /><Relationship Type="http://schemas.openxmlformats.org/officeDocument/2006/relationships/slideLayout" Target="/ppt/slideLayouts/slideLayout1.xml" Id="R0ed7b7e9b6e042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d7b7e9b6e042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bd37872ad44ba" /><Relationship Type="http://schemas.openxmlformats.org/officeDocument/2006/relationships/image" Target="/ppt/media/image.png" Id="R293bb13efa944576" /><Relationship Type="http://schemas.openxmlformats.org/officeDocument/2006/relationships/image" Target="/ppt/media/image2.png" Id="R459c52e288b345e0" /><Relationship Type="http://schemas.openxmlformats.org/officeDocument/2006/relationships/notesSlide" Target="/ppt/notesSlides/notesSlide1.xml" Id="R3795276c1dbe43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9a0e5f325478f" /><Relationship Type="http://schemas.openxmlformats.org/officeDocument/2006/relationships/image" Target="/ppt/media/image3.png" Id="R9cc652b86d7c4d0e" /><Relationship Type="http://schemas.openxmlformats.org/officeDocument/2006/relationships/notesSlide" Target="/ppt/notesSlides/notesSlide2.xml" Id="Raf9df7981dfd44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3c329db01441b" /><Relationship Type="http://schemas.openxmlformats.org/officeDocument/2006/relationships/image" Target="/ppt/media/image4.png" Id="R7fabde947e594156" /><Relationship Type="http://schemas.openxmlformats.org/officeDocument/2006/relationships/image" Target="/ppt/media/image5.png" Id="R20864edc09ea4867" /><Relationship Type="http://schemas.openxmlformats.org/officeDocument/2006/relationships/image" Target="/ppt/media/image6.png" Id="Rdcb80c2d8a04490e" /><Relationship Type="http://schemas.openxmlformats.org/officeDocument/2006/relationships/image" Target="/ppt/media/image7.png" Id="Ra571612f99534226" /><Relationship Type="http://schemas.openxmlformats.org/officeDocument/2006/relationships/notesSlide" Target="/ppt/notesSlides/notesSlide3.xml" Id="Rd9b617cd3add42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fa83c7b3a4c57" /><Relationship Type="http://schemas.openxmlformats.org/officeDocument/2006/relationships/image" Target="/ppt/media/image8.png" Id="R6d74059d439147f1" /><Relationship Type="http://schemas.openxmlformats.org/officeDocument/2006/relationships/notesSlide" Target="/ppt/notesSlides/notesSlide4.xml" Id="R17b78bf22fea42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e31b9b4d94d8b" /><Relationship Type="http://schemas.openxmlformats.org/officeDocument/2006/relationships/notesSlide" Target="/ppt/notesSlides/notesSlide5.xml" Id="Raed55003d7df4d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cf733df274491" /><Relationship Type="http://schemas.openxmlformats.org/officeDocument/2006/relationships/image" Target="/ppt/media/image9.png" Id="R523dccdb11084e39" /><Relationship Type="http://schemas.openxmlformats.org/officeDocument/2006/relationships/notesSlide" Target="/ppt/notesSlides/notesSlide6.xml" Id="R8405722b932643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3512200dc4dde" /><Relationship Type="http://schemas.openxmlformats.org/officeDocument/2006/relationships/image" Target="/ppt/media/image10.png" Id="R7a20a85e327a4886" /><Relationship Type="http://schemas.openxmlformats.org/officeDocument/2006/relationships/notesSlide" Target="/ppt/notesSlides/notesSlide7.xml" Id="R1525604ba42541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792361a8c4514" /><Relationship Type="http://schemas.openxmlformats.org/officeDocument/2006/relationships/image" Target="/ppt/media/image11.png" Id="Rb3afffb25f294d1a" /><Relationship Type="http://schemas.openxmlformats.org/officeDocument/2006/relationships/notesSlide" Target="/ppt/notesSlides/notesSlide8.xml" Id="R88995dc812884c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6919702ff4cda" /><Relationship Type="http://schemas.openxmlformats.org/officeDocument/2006/relationships/image" Target="/ppt/media/image12.png" Id="Rb16cd4af007e499c" /><Relationship Type="http://schemas.openxmlformats.org/officeDocument/2006/relationships/notesSlide" Target="/ppt/notesSlides/notesSlide9.xml" Id="Rd7f5f44198314f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1c7369c8345f3" /><Relationship Type="http://schemas.openxmlformats.org/officeDocument/2006/relationships/image" Target="/ppt/media/image13.png" Id="R31171772607b45cd" /><Relationship Type="http://schemas.openxmlformats.org/officeDocument/2006/relationships/image" Target="/ppt/media/image14.png" Id="Re47cdf9724604c26" /><Relationship Type="http://schemas.openxmlformats.org/officeDocument/2006/relationships/notesSlide" Target="/ppt/notesSlides/notesSlide10.xml" Id="R7040131d52c745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d8078f2794f1d" /><Relationship Type="http://schemas.openxmlformats.org/officeDocument/2006/relationships/notesSlide" Target="/ppt/notesSlides/notesSlide11.xml" Id="Rad5240370bc349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7b638c11e4616" /><Relationship Type="http://schemas.openxmlformats.org/officeDocument/2006/relationships/image" Target="/ppt/media/image15.png" Id="R6e990c2e169146ef" /><Relationship Type="http://schemas.openxmlformats.org/officeDocument/2006/relationships/image" Target="/ppt/media/image16.png" Id="R98a75a8855d348f2" /><Relationship Type="http://schemas.openxmlformats.org/officeDocument/2006/relationships/image" Target="/ppt/media/image17.png" Id="R46cc4683be1c4d5d" /><Relationship Type="http://schemas.openxmlformats.org/officeDocument/2006/relationships/notesSlide" Target="/ppt/notesSlides/notesSlide12.xml" Id="Re0d88b3450e34e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574aaa63b43de" /><Relationship Type="http://schemas.openxmlformats.org/officeDocument/2006/relationships/image" Target="/ppt/media/image18.png" Id="Rff8c529effea4e56" /><Relationship Type="http://schemas.openxmlformats.org/officeDocument/2006/relationships/notesSlide" Target="/ppt/notesSlides/notesSlide13.xml" Id="R63228f5c924f4f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a1b0bd6e14611" /><Relationship Type="http://schemas.openxmlformats.org/officeDocument/2006/relationships/image" Target="/ppt/media/image19.png" Id="R05d5d1a6ed014a89" /><Relationship Type="http://schemas.openxmlformats.org/officeDocument/2006/relationships/notesSlide" Target="/ppt/notesSlides/notesSlide14.xml" Id="R2dc8f7d0b9854c8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f8b8ec64a4b74" /><Relationship Type="http://schemas.openxmlformats.org/officeDocument/2006/relationships/image" Target="/ppt/media/image20.png" Id="R9a897b81bb6a4b17" /><Relationship Type="http://schemas.openxmlformats.org/officeDocument/2006/relationships/image" Target="/ppt/media/image21.png" Id="R8b3bc39022a44130" /><Relationship Type="http://schemas.openxmlformats.org/officeDocument/2006/relationships/image" Target="/ppt/media/image22.png" Id="Rcfdd653c8e25469a" /><Relationship Type="http://schemas.openxmlformats.org/officeDocument/2006/relationships/image" Target="/ppt/media/image23.png" Id="Rd9d6ca20ae8745be" /><Relationship Type="http://schemas.openxmlformats.org/officeDocument/2006/relationships/notesSlide" Target="/ppt/notesSlides/notesSlide15.xml" Id="R5bff36e75bb34f3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5215882d44e07" /><Relationship Type="http://schemas.openxmlformats.org/officeDocument/2006/relationships/image" Target="/ppt/media/image24.png" Id="Rf92ab8bccb54459f" /><Relationship Type="http://schemas.openxmlformats.org/officeDocument/2006/relationships/image" Target="/ppt/media/image25.png" Id="Rf2d7484b0f1c4f11" /><Relationship Type="http://schemas.openxmlformats.org/officeDocument/2006/relationships/notesSlide" Target="/ppt/notesSlides/notesSlide16.xml" Id="R003603ab9f2a4e9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24c0b046c4295" /><Relationship Type="http://schemas.openxmlformats.org/officeDocument/2006/relationships/notesSlide" Target="/ppt/notesSlides/notesSlide17.xml" Id="Ra98a10b4d9014df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b821426b345d8" /><Relationship Type="http://schemas.openxmlformats.org/officeDocument/2006/relationships/notesSlide" Target="/ppt/notesSlides/notesSlide18.xml" Id="Re9f751f23ab0431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d2287de2c447c" /><Relationship Type="http://schemas.openxmlformats.org/officeDocument/2006/relationships/image" Target="/ppt/media/image26.png" Id="R03bf769d2dae4699" /><Relationship Type="http://schemas.openxmlformats.org/officeDocument/2006/relationships/image" Target="/ppt/media/image27.png" Id="R638229c90e1d41d3" /><Relationship Type="http://schemas.openxmlformats.org/officeDocument/2006/relationships/notesSlide" Target="/ppt/notesSlides/notesSlide19.xml" Id="R5d888bff4cbf498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7ee4afd134178" /><Relationship Type="http://schemas.openxmlformats.org/officeDocument/2006/relationships/image" Target="/ppt/media/image28.png" Id="R2ba943cb3bce4a6a" /><Relationship Type="http://schemas.openxmlformats.org/officeDocument/2006/relationships/notesSlide" Target="/ppt/notesSlides/notesSlide20.xml" Id="R565490a57e1a461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7a1ca56714687" /><Relationship Type="http://schemas.openxmlformats.org/officeDocument/2006/relationships/image" Target="/ppt/media/image29.png" Id="R9f13a2b6efe84d53" /><Relationship Type="http://schemas.openxmlformats.org/officeDocument/2006/relationships/image" Target="/ppt/media/image30.png" Id="R90c6fc48db4149b7" /><Relationship Type="http://schemas.openxmlformats.org/officeDocument/2006/relationships/image" Target="/ppt/media/image31.png" Id="Reb7bfbe3f5f04783" /><Relationship Type="http://schemas.openxmlformats.org/officeDocument/2006/relationships/image" Target="/ppt/media/image32.png" Id="R94ef79c918724c6c" /><Relationship Type="http://schemas.openxmlformats.org/officeDocument/2006/relationships/notesSlide" Target="/ppt/notesSlides/notesSlide21.xml" Id="R63d958f1e70048f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bcda9c8814741" /><Relationship Type="http://schemas.openxmlformats.org/officeDocument/2006/relationships/image" Target="/ppt/media/image33.png" Id="R7d52fc7e351d42be" /><Relationship Type="http://schemas.openxmlformats.org/officeDocument/2006/relationships/notesSlide" Target="/ppt/notesSlides/notesSlide22.xml" Id="R1fbb66cb3cb5445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68db4bba04377" /><Relationship Type="http://schemas.openxmlformats.org/officeDocument/2006/relationships/image" Target="/ppt/media/image34.png" Id="Re9a463efeb664917" /><Relationship Type="http://schemas.openxmlformats.org/officeDocument/2006/relationships/notesSlide" Target="/ppt/notesSlides/notesSlide23.xml" Id="R279d1fb95f834dd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a9da4c11a4891" /><Relationship Type="http://schemas.openxmlformats.org/officeDocument/2006/relationships/image" Target="/ppt/media/image35.png" Id="R76fb65a018514de5" /><Relationship Type="http://schemas.openxmlformats.org/officeDocument/2006/relationships/image" Target="/ppt/media/image36.png" Id="Radfd5bd905954974" /><Relationship Type="http://schemas.openxmlformats.org/officeDocument/2006/relationships/notesSlide" Target="/ppt/notesSlides/notesSlide24.xml" Id="R5301e63c15c04ac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cd6546e6c49ad" /><Relationship Type="http://schemas.openxmlformats.org/officeDocument/2006/relationships/notesSlide" Target="/ppt/notesSlides/notesSlide25.xml" Id="R7978be2a18f84c2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832e2f8f54258" /><Relationship Type="http://schemas.openxmlformats.org/officeDocument/2006/relationships/image" Target="/ppt/media/image37.png" Id="R09789f0d86b949d6" /><Relationship Type="http://schemas.openxmlformats.org/officeDocument/2006/relationships/notesSlide" Target="/ppt/notesSlides/notesSlide26.xml" Id="R0919029adebb4b3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e82de32e94931" /><Relationship Type="http://schemas.openxmlformats.org/officeDocument/2006/relationships/image" Target="/ppt/media/image38.png" Id="Rffd6521776c341bf" /><Relationship Type="http://schemas.openxmlformats.org/officeDocument/2006/relationships/notesSlide" Target="/ppt/notesSlides/notesSlide27.xml" Id="Rfec75729001649e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ec32ca4754e4b" /><Relationship Type="http://schemas.openxmlformats.org/officeDocument/2006/relationships/image" Target="/ppt/media/image39.png" Id="Re65b8ab8ef9a4ae6" /><Relationship Type="http://schemas.openxmlformats.org/officeDocument/2006/relationships/notesSlide" Target="/ppt/notesSlides/notesSlide28.xml" Id="R2222b342270d415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e7a585bde4df6" /><Relationship Type="http://schemas.openxmlformats.org/officeDocument/2006/relationships/image" Target="/ppt/media/image40.png" Id="R548beaca9cf04aa8" /><Relationship Type="http://schemas.openxmlformats.org/officeDocument/2006/relationships/notesSlide" Target="/ppt/notesSlides/notesSlide29.xml" Id="Rfed59cc9b82e4e3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3bb9d83b847b8" /><Relationship Type="http://schemas.openxmlformats.org/officeDocument/2006/relationships/image" Target="/ppt/media/image41.png" Id="R4558ec1018674ffd" /><Relationship Type="http://schemas.openxmlformats.org/officeDocument/2006/relationships/notesSlide" Target="/ppt/notesSlides/notesSlide30.xml" Id="R8a07f548551f4a6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c9996b3224ec0" /><Relationship Type="http://schemas.openxmlformats.org/officeDocument/2006/relationships/image" Target="/ppt/media/image42.png" Id="R6a4201a3c6934c8e" /><Relationship Type="http://schemas.openxmlformats.org/officeDocument/2006/relationships/notesSlide" Target="/ppt/notesSlides/notesSlide31.xml" Id="R0535cdb1b6de492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a18da917d46f8" /><Relationship Type="http://schemas.openxmlformats.org/officeDocument/2006/relationships/image" Target="/ppt/media/image43.png" Id="Rf414a92b7e654e77" /><Relationship Type="http://schemas.openxmlformats.org/officeDocument/2006/relationships/notesSlide" Target="/ppt/notesSlides/notesSlide32.xml" Id="R84c0aaa154f146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B1545F57-92E7-44B6-9810-20E729FF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08 브라우저 에이전트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E155F932-FA60-4D63-BE00-BDBD3444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14:45–14:57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0005DE-0B90-490E-9DBC-705F9822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브라우저 에이전트는 웹 화면에서 일합니다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0832A020-FAAF-4EA8-97A8-4F25128D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AD3B32D8-FD5E-473E-8062-3BD0E437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E4DA2DC-3A4C-4737-928F-611EF486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7BA2FF-EC9E-4143-B54C-14D63452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8" name="statement">
            <a:extLst xmlns:a="http://schemas.openxmlformats.org/drawingml/2006/main">
              <a:ext uri="{FF2B5EF4-FFF2-40B4-BE49-F238E27FC236}">
                <a16:creationId xmlns:a16="http://schemas.microsoft.com/office/drawing/2014/main" id="{B644728D-5722-499D-8C91-4DEC0BD9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857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2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페이지를 읽고,</a:t>
            </a:r>
          </a:p>
          <a:p xmlns:a="http://schemas.openxmlformats.org/drawingml/2006/main">
            <a:pPr algn="l">
              <a:buNone/>
              <a:defRPr sz="42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2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필요한 버튼을 누릅니다.</a:t>
            </a:r>
          </a:p>
        </p:txBody>
      </p:sp>
      <p:sp>
        <p:nvSpPr>
          <p:cNvPr id="9" name="statement-body">
            <a:extLst xmlns:a="http://schemas.openxmlformats.org/drawingml/2006/main">
              <a:ext uri="{FF2B5EF4-FFF2-40B4-BE49-F238E27FC236}">
                <a16:creationId xmlns:a16="http://schemas.microsoft.com/office/drawing/2014/main" id="{5F7D50A1-8C44-49A9-8944-5678447D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0075"/>
            <a:ext cx="111252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“이번 달 내역을 조회하고 파일로 내려받아 줘.”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목표를 말하면 화면의 여러 단계를 이어서 수행합니다.</a:t>
            </a:r>
          </a:p>
        </p:txBody>
      </p:sp>
      <p:sp>
        <p:nvSpPr>
          <p:cNvPr id="11" name="top-accent">
            <a:extLst xmlns:a="http://schemas.openxmlformats.org/drawingml/2006/main">
              <a:ext uri="{FF2B5EF4-FFF2-40B4-BE49-F238E27FC236}">
                <a16:creationId xmlns:a16="http://schemas.microsoft.com/office/drawing/2014/main" id="{9E55225A-DB1C-442D-B96E-228046B1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bb13efa944576"/>
          <a:stretch xmlns:a="http://schemas.openxmlformats.org/drawingml/2006/main"/>
        </p:blipFill>
        <p:spPr>
          <a:xfrm xmlns:a="http://schemas.openxmlformats.org/drawingml/2006/main">
            <a:off x="533400" y="227751"/>
            <a:ext cx="381000" cy="344599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c52e288b345e0"/>
          <a:stretch xmlns:a="http://schemas.openxmlformats.org/drawingml/2006/main"/>
        </p:blipFill>
        <p:spPr>
          <a:xfrm xmlns:a="http://schemas.openxmlformats.org/drawingml/2006/main">
            <a:off x="9553575" y="2234128"/>
            <a:ext cx="1905000" cy="17229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0699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3CD506A9-2353-4D57-A75C-2E52B17D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08 브라우저 에이전트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C764EFA7-4FEF-492F-8CE9-0418A750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14:45–14:57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5E2220-E170-4BEC-8ECF-DDB6F65E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읽기와 실행은 확인 지점이 다릅니다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DD5A3E0C-29D2-4C34-88CA-766B45DA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CBB30541-8417-4BDB-BE78-EAFCB251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89C912B-33AB-475D-A7FE-5B1DD420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581A29-97ED-496E-AA96-417EB9BE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533400" y="1990725"/>
          <a:ext xmlns:a="http://schemas.openxmlformats.org/drawingml/2006/main" cx="1112520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019675"/>
                <a:gridCol w="4010025"/>
              </a:tblGrid>
              <a:tr h="719138">
                <a:tc>
                  <a:txBody>
                    <a:bodyPr wrap="square" lIns="133350" tIns="95250" rIns="9525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작업</a:t>
                      </a:r>
                    </a:p>
                  </a:txBody>
                  <a:tcPr marL="91440" marR="91440" marT="45720" marB="45720" anchor="ctr">
                    <a:solidFill>
                      <a:srgbClr val="14263D"/>
                    </a:solidFill>
                  </a:tcPr>
                </a:tc>
                <a:tc>
                  <a:txBody>
                    <a:bodyPr wrap="square" lIns="133350" tIns="95250" rIns="9525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예시</a:t>
                      </a:r>
                    </a:p>
                  </a:txBody>
                  <a:tcPr marL="91440" marR="91440" marT="45720" marB="45720" anchor="ctr">
                    <a:solidFill>
                      <a:srgbClr val="14263D"/>
                    </a:solidFill>
                  </a:tcPr>
                </a:tc>
                <a:tc>
                  <a:txBody>
                    <a:bodyPr wrap="square" lIns="133350" tIns="95250" rIns="9525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확인 지점</a:t>
                      </a:r>
                    </a:p>
                  </a:txBody>
                  <a:tcPr marL="91440" marR="91440" marT="45720" marB="45720" anchor="ctr">
                    <a:solidFill>
                      <a:srgbClr val="14263D"/>
                    </a:solidFill>
                  </a:tcPr>
                </a:tc>
              </a:tr>
              <a:tr h="719138">
                <a:tc>
                  <a:txBody>
                    <a:bodyPr wrap="square" lIns="133350" tIns="95250" rIns="9525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864DC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읽기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9525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63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공지 요약·영문 번역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9525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63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근거·누락·번역 정확성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 wrap="square" lIns="133350" tIns="95250" rIns="9525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864DC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조회·이동</a:t>
                      </a:r>
                    </a:p>
                  </a:txBody>
                  <a:tcPr marL="91440" marR="91440" marT="45720" marB="45720" anchor="ctr">
                    <a:solidFill>
                      <a:srgbClr val="F0F6FA"/>
                    </a:solidFill>
                  </a:tcPr>
                </a:tc>
                <a:tc>
                  <a:txBody>
                    <a:bodyPr wrap="square" lIns="133350" tIns="95250" rIns="9525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63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목록 찾기·조건 검색</a:t>
                      </a:r>
                    </a:p>
                  </a:txBody>
                  <a:tcPr marL="91440" marR="91440" marT="45720" marB="45720" anchor="ctr">
                    <a:solidFill>
                      <a:srgbClr val="F0F6FA"/>
                    </a:solidFill>
                  </a:tcPr>
                </a:tc>
                <a:tc>
                  <a:txBody>
                    <a:bodyPr wrap="square" lIns="133350" tIns="95250" rIns="9525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63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대상·기간·필터</a:t>
                      </a:r>
                    </a:p>
                  </a:txBody>
                  <a:tcPr marL="91440" marR="91440" marT="45720" marB="45720" anchor="ctr">
                    <a:solidFill>
                      <a:srgbClr val="F0F6FA"/>
                    </a:solidFill>
                  </a:tcPr>
                </a:tc>
              </a:tr>
              <a:tr h="719138">
                <a:tc>
                  <a:txBody>
                    <a:bodyPr wrap="square" lIns="133350" tIns="95250" rIns="9525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864DC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변경·전송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9525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63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입력·등록·발송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9525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63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내용·상대·실행 결과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able-caption">
            <a:extLst xmlns:a="http://schemas.openxmlformats.org/drawingml/2006/main">
              <a:ext uri="{FF2B5EF4-FFF2-40B4-BE49-F238E27FC236}">
                <a16:creationId xmlns:a16="http://schemas.microsoft.com/office/drawing/2014/main" id="{C1668993-D634-441B-B4C6-8C4F7A8B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지금 읽는 중인지, 실제로 실행하는 중인지 구분합니다.</a:t>
            </a:r>
          </a:p>
        </p:txBody>
      </p:sp>
      <p:sp>
        <p:nvSpPr>
          <p:cNvPr id="12" name="top-accent">
            <a:extLst xmlns:a="http://schemas.openxmlformats.org/drawingml/2006/main">
              <a:ext uri="{FF2B5EF4-FFF2-40B4-BE49-F238E27FC236}">
                <a16:creationId xmlns:a16="http://schemas.microsoft.com/office/drawing/2014/main" id="{C547FCD4-C6D1-42F6-9BB9-908A9F7A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652b86d7c4d0e"/>
          <a:stretch xmlns:a="http://schemas.openxmlformats.org/drawingml/2006/main"/>
        </p:blipFill>
        <p:spPr>
          <a:xfrm xmlns:a="http://schemas.openxmlformats.org/drawingml/2006/main">
            <a:off x="533400" y="227751"/>
            <a:ext cx="381000" cy="3445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7588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">
            <a:extLst xmlns:a="http://schemas.openxmlformats.org/drawingml/2006/main">
              <a:ext uri="{FF2B5EF4-FFF2-40B4-BE49-F238E27FC236}">
                <a16:creationId xmlns:a16="http://schemas.microsoft.com/office/drawing/2014/main" id="{44AE7A01-7235-4BB6-BE03-8A4A5351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08 브라우저 에이전트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86685DF3-32A8-4A03-B8BC-334D67C7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14:45–14:57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98CB08-BF4A-4F65-9B17-2F195E95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멈추는 이유를 알면 다시 시작하기 쉽습니다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B022700-DCC9-4053-AA26-AF544231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F38A231C-51DB-40DB-BD47-E2B5690B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DF3444B-587D-406B-B6ED-F57F42E1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6CD2172-7172-4E70-A112-976AD5B5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8" name="item-number-0">
            <a:extLst xmlns:a="http://schemas.openxmlformats.org/drawingml/2006/main">
              <a:ext uri="{FF2B5EF4-FFF2-40B4-BE49-F238E27FC236}">
                <a16:creationId xmlns:a16="http://schemas.microsoft.com/office/drawing/2014/main" id="{65C7CFA8-7FF6-46EC-8F52-324B90FF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9" name="item-title-0">
            <a:extLst xmlns:a="http://schemas.openxmlformats.org/drawingml/2006/main">
              <a:ext uri="{FF2B5EF4-FFF2-40B4-BE49-F238E27FC236}">
                <a16:creationId xmlns:a16="http://schemas.microsoft.com/office/drawing/2014/main" id="{D16DC999-2070-4047-8506-709C4A73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288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로그인·추가 인증</a:t>
            </a:r>
          </a:p>
        </p:txBody>
      </p:sp>
      <p:sp>
        <p:nvSpPr>
          <p:cNvPr id="10" name="item-body-0">
            <a:extLst xmlns:a="http://schemas.openxmlformats.org/drawingml/2006/main">
              <a:ext uri="{FF2B5EF4-FFF2-40B4-BE49-F238E27FC236}">
                <a16:creationId xmlns:a16="http://schemas.microsoft.com/office/drawing/2014/main" id="{2712A84B-D7DB-4D22-B749-7425B9EC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본인이 로그인한 뒤 같은 화면에서 재개합니다.</a:t>
            </a:r>
          </a:p>
        </p:txBody>
      </p:sp>
      <p:sp>
        <p:nvSpPr>
          <p:cNvPr id="11" name="item-number-1">
            <a:extLst xmlns:a="http://schemas.openxmlformats.org/drawingml/2006/main">
              <a:ext uri="{FF2B5EF4-FFF2-40B4-BE49-F238E27FC236}">
                <a16:creationId xmlns:a16="http://schemas.microsoft.com/office/drawing/2014/main" id="{1EF40182-5614-4E49-8724-D4BA4EAD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2" name="item-title-1">
            <a:extLst xmlns:a="http://schemas.openxmlformats.org/drawingml/2006/main">
              <a:ext uri="{FF2B5EF4-FFF2-40B4-BE49-F238E27FC236}">
                <a16:creationId xmlns:a16="http://schemas.microsoft.com/office/drawing/2014/main" id="{B976E541-A937-470C-B428-5CB4752F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099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팝업·새 탭·느린 화면</a:t>
            </a:r>
          </a:p>
        </p:txBody>
      </p:sp>
      <p:sp>
        <p:nvSpPr>
          <p:cNvPr id="13" name="item-body-1">
            <a:extLst xmlns:a="http://schemas.openxmlformats.org/drawingml/2006/main">
              <a:ext uri="{FF2B5EF4-FFF2-40B4-BE49-F238E27FC236}">
                <a16:creationId xmlns:a16="http://schemas.microsoft.com/office/drawing/2014/main" id="{CA3CFAAE-19D7-475B-B960-A56432DF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화면 상태와 기다리는 작업을 확인합니다.</a:t>
            </a:r>
          </a:p>
        </p:txBody>
      </p:sp>
      <p:sp>
        <p:nvSpPr>
          <p:cNvPr id="14" name="item-number-2">
            <a:extLst xmlns:a="http://schemas.openxmlformats.org/drawingml/2006/main">
              <a:ext uri="{FF2B5EF4-FFF2-40B4-BE49-F238E27FC236}">
                <a16:creationId xmlns:a16="http://schemas.microsoft.com/office/drawing/2014/main" id="{A7E24A09-8913-42F8-A576-E171A140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863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5" name="item-title-2">
            <a:extLst xmlns:a="http://schemas.openxmlformats.org/drawingml/2006/main">
              <a:ext uri="{FF2B5EF4-FFF2-40B4-BE49-F238E27FC236}">
                <a16:creationId xmlns:a16="http://schemas.microsoft.com/office/drawing/2014/main" id="{E6D49E41-2914-45AA-933C-3FBD1806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910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복잡한 표·화면 변경</a:t>
            </a:r>
          </a:p>
        </p:txBody>
      </p:sp>
      <p:sp>
        <p:nvSpPr>
          <p:cNvPr id="16" name="item-body-2">
            <a:extLst xmlns:a="http://schemas.openxmlformats.org/drawingml/2006/main">
              <a:ext uri="{FF2B5EF4-FFF2-40B4-BE49-F238E27FC236}">
                <a16:creationId xmlns:a16="http://schemas.microsoft.com/office/drawing/2014/main" id="{83F3E21D-17C0-4ADA-B3A4-E4801584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863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범위를 줄여 다시 요청하거나 직접 한 단계를 합니다.</a:t>
            </a:r>
          </a:p>
        </p:txBody>
      </p:sp>
      <p:sp>
        <p:nvSpPr>
          <p:cNvPr id="18" name="top-accent">
            <a:extLst xmlns:a="http://schemas.openxmlformats.org/drawingml/2006/main">
              <a:ext uri="{FF2B5EF4-FFF2-40B4-BE49-F238E27FC236}">
                <a16:creationId xmlns:a16="http://schemas.microsoft.com/office/drawing/2014/main" id="{345ED844-CE38-49C3-ABC8-FBEEF4E6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bde947e594156"/>
          <a:stretch xmlns:a="http://schemas.openxmlformats.org/drawingml/2006/main"/>
        </p:blipFill>
        <p:spPr>
          <a:xfrm xmlns:a="http://schemas.openxmlformats.org/drawingml/2006/main">
            <a:off x="533400" y="227751"/>
            <a:ext cx="381000" cy="344599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864edc09ea4867"/>
          <a:stretch xmlns:a="http://schemas.openxmlformats.org/drawingml/2006/main"/>
        </p:blipFill>
        <p:spPr>
          <a:xfrm xmlns:a="http://schemas.openxmlformats.org/drawingml/2006/main">
            <a:off x="533400" y="2059766"/>
            <a:ext cx="647700" cy="585818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80c2d8a04490e"/>
          <a:stretch xmlns:a="http://schemas.openxmlformats.org/drawingml/2006/main"/>
        </p:blipFill>
        <p:spPr>
          <a:xfrm xmlns:a="http://schemas.openxmlformats.org/drawingml/2006/main">
            <a:off x="533400" y="3240866"/>
            <a:ext cx="647700" cy="585818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1612f99534226"/>
          <a:stretch xmlns:a="http://schemas.openxmlformats.org/drawingml/2006/main"/>
        </p:blipFill>
        <p:spPr>
          <a:xfrm xmlns:a="http://schemas.openxmlformats.org/drawingml/2006/main">
            <a:off x="560781" y="4391025"/>
            <a:ext cx="592938" cy="647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9223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DA6FEE-1005-4117-83D4-37165D36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브라우저 화면 · 추가 인증은 직접 완료합니다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EF86E2F5-6E2C-48F1-A4F8-99E63EC4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4B51DC0-BAFD-488A-B675-66F84E7F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2389621-1F67-4960-BB79-C7D338AD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08 브라우저 에이전트  |  교육용 가상 화면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8FC6F02-A229-4C00-B2F9-763E185A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4059d439147f1"/>
          <a:stretch xmlns:a="http://schemas.openxmlformats.org/drawingml/2006/main"/>
        </p:blipFill>
        <p:spPr>
          <a:xfrm xmlns:a="http://schemas.openxmlformats.org/drawingml/2006/main">
            <a:off x="1714500" y="1076325"/>
            <a:ext cx="8763000" cy="4933950"/>
          </a:xfrm>
          <a:prstGeom xmlns:a="http://schemas.openxmlformats.org/drawingml/2006/main" prst="rect">
            <a:avLst/>
          </a:prstGeom>
        </p:spPr>
      </p:pic>
      <p:sp>
        <p:nvSpPr>
          <p:cNvPr id="9" name="top-accent">
            <a:extLst xmlns:a="http://schemas.openxmlformats.org/drawingml/2006/main">
              <a:ext uri="{FF2B5EF4-FFF2-40B4-BE49-F238E27FC236}">
                <a16:creationId xmlns:a16="http://schemas.microsoft.com/office/drawing/2014/main" id="{B8811331-F5CB-4A32-A0A5-800713DC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11" name="screen-checks">
            <a:extLst xmlns:a="http://schemas.openxmlformats.org/drawingml/2006/main">
              <a:ext uri="{FF2B5EF4-FFF2-40B4-BE49-F238E27FC236}">
                <a16:creationId xmlns:a16="http://schemas.microsoft.com/office/drawing/2014/main" id="{E73C269A-BA11-48BD-9AC4-965BC93C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① 멈춘 이유 확인   ② 본인이 직접 인증   ③ 인증 후 계속</a:t>
            </a:r>
          </a:p>
        </p:txBody>
      </p:sp>
    </p:spTree>
    <p:extLst>
      <p:ext uri="{BB962C8B-B14F-4D97-AF65-F5344CB8AC3E}">
        <p14:creationId xmlns:p14="http://schemas.microsoft.com/office/powerpoint/2010/main" val="17015690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CC8E25B4-CDA3-4846-B982-A19BE8E5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857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08 브라우저 에이전트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FB214137-A35B-42ED-BE37-CCB7E4F7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rPr>
              <a:t>Q&amp;A · 3분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2B45F8-BEE9-4D9F-A202-BFCE8E0A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질문하고, 함께 확인합니다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2CC496A-4969-4043-BFBD-8BF1F02C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8B6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CD5B690-63B8-4BD2-8EB9-D290B2D4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36A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1B436C7-6DE6-4D44-B88A-645416FE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EA9051-9DF4-4523-B1D5-3A3B68AE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8" name="qa-minutes">
            <a:extLst xmlns:a="http://schemas.openxmlformats.org/drawingml/2006/main">
              <a:ext uri="{FF2B5EF4-FFF2-40B4-BE49-F238E27FC236}">
                <a16:creationId xmlns:a16="http://schemas.microsoft.com/office/drawing/2014/main" id="{315E5C6F-F4D8-4BB9-84F7-9268D705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22288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34D3B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700" b="1">
                <a:solidFill>
                  <a:srgbClr val="34D3BF"/>
                </a:solidFill>
                <a:latin typeface="Noto Sans CJK KR"/>
                <a:ea typeface="Noto Sans CJK KR"/>
                <a:cs typeface="Noto Sans CJK KR"/>
              </a:rPr>
              <a:t>3분</a:t>
            </a:r>
          </a:p>
        </p:txBody>
      </p:sp>
      <p:sp>
        <p:nvSpPr>
          <p:cNvPr id="9" name="qa-label">
            <a:extLst xmlns:a="http://schemas.openxmlformats.org/drawingml/2006/main">
              <a:ext uri="{FF2B5EF4-FFF2-40B4-BE49-F238E27FC236}">
                <a16:creationId xmlns:a16="http://schemas.microsoft.com/office/drawing/2014/main" id="{F75DE698-E540-4688-BD5D-7FAD21E5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95625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함께 확인</a:t>
            </a:r>
          </a:p>
        </p:txBody>
      </p:sp>
      <p:sp>
        <p:nvSpPr>
          <p:cNvPr id="10" name="question-number-0">
            <a:extLst xmlns:a="http://schemas.openxmlformats.org/drawingml/2006/main">
              <a:ext uri="{FF2B5EF4-FFF2-40B4-BE49-F238E27FC236}">
                <a16:creationId xmlns:a16="http://schemas.microsoft.com/office/drawing/2014/main" id="{382262A9-A30B-4054-B0B2-5F46BC27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383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66A1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66A1FF"/>
                </a:solidFill>
                <a:latin typeface="Noto Sans CJK KR"/>
                <a:ea typeface="Noto Sans CJK KR"/>
                <a:cs typeface="Noto Sans CJK KR"/>
              </a:rPr>
              <a:t>Q1</a:t>
            </a:r>
          </a:p>
        </p:txBody>
      </p:sp>
      <p:sp>
        <p:nvSpPr>
          <p:cNvPr id="11" name="question-0">
            <a:extLst xmlns:a="http://schemas.openxmlformats.org/drawingml/2006/main">
              <a:ext uri="{FF2B5EF4-FFF2-40B4-BE49-F238E27FC236}">
                <a16:creationId xmlns:a16="http://schemas.microsoft.com/office/drawing/2014/main" id="{795EE52B-775D-4DE0-8247-0887B5B4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73437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화면이 멈췄을 때 무엇을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강사에게 보여 주면 좋을까요?</a:t>
            </a:r>
          </a:p>
        </p:txBody>
      </p:sp>
      <p:sp>
        <p:nvSpPr>
          <p:cNvPr id="12" name="question-number-1">
            <a:extLst xmlns:a="http://schemas.openxmlformats.org/drawingml/2006/main">
              <a:ext uri="{FF2B5EF4-FFF2-40B4-BE49-F238E27FC236}">
                <a16:creationId xmlns:a16="http://schemas.microsoft.com/office/drawing/2014/main" id="{BE432F54-50D4-4F9D-AB56-10E4E614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385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AB9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FFAB99"/>
                </a:solidFill>
                <a:latin typeface="Noto Sans CJK KR"/>
                <a:ea typeface="Noto Sans CJK KR"/>
                <a:cs typeface="Noto Sans CJK KR"/>
              </a:rPr>
              <a:t>Q2</a:t>
            </a:r>
          </a:p>
        </p:txBody>
      </p:sp>
      <p:sp>
        <p:nvSpPr>
          <p:cNvPr id="13" name="question-1">
            <a:extLst xmlns:a="http://schemas.openxmlformats.org/drawingml/2006/main">
              <a:ext uri="{FF2B5EF4-FFF2-40B4-BE49-F238E27FC236}">
                <a16:creationId xmlns:a16="http://schemas.microsoft.com/office/drawing/2014/main" id="{F6D994BF-7137-4CE6-8854-5736D788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38500"/>
            <a:ext cx="73437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실행 중 다른 탭을 조작해도 될까요?</a:t>
            </a:r>
          </a:p>
        </p:txBody>
      </p:sp>
      <p:sp>
        <p:nvSpPr>
          <p:cNvPr id="14" name="qa-check">
            <a:extLst xmlns:a="http://schemas.openxmlformats.org/drawingml/2006/main">
              <a:ext uri="{FF2B5EF4-FFF2-40B4-BE49-F238E27FC236}">
                <a16:creationId xmlns:a16="http://schemas.microsoft.com/office/drawing/2014/main" id="{512BC65D-AA59-4A97-8529-FD7ED555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8BE2D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8BE2D6"/>
                </a:solidFill>
                <a:latin typeface="Noto Sans CJK KR"/>
                <a:ea typeface="Noto Sans CJK KR"/>
                <a:cs typeface="Noto Sans CJK KR"/>
              </a:rPr>
              <a:t>실패한 단계와 완료된 단계를 나누어 말해 보세요</a:t>
            </a:r>
          </a:p>
        </p:txBody>
      </p:sp>
      <p:sp>
        <p:nvSpPr>
          <p:cNvPr id="16" name="top-accent">
            <a:extLst xmlns:a="http://schemas.openxmlformats.org/drawingml/2006/main">
              <a:ext uri="{FF2B5EF4-FFF2-40B4-BE49-F238E27FC236}">
                <a16:creationId xmlns:a16="http://schemas.microsoft.com/office/drawing/2014/main" id="{503CFC0F-9524-48E0-B2D7-54D10350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523568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E81B3D-0ADE-4D62-A9C9-0CDAC695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긴 현재 페이지에서 근거를 찾아 답합니다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441CE2E9-DB4B-4546-BC78-1CCAF5C5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D791D3D-C6DF-4F8F-90BB-425BE8BF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092D3A7-8ED5-4646-9E6F-F4BF7B15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09 페이지 기반 작업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E26FA01-1A96-4119-85FC-CA504AA1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dccdb11084e39"/>
          <a:stretch xmlns:a="http://schemas.openxmlformats.org/drawingml/2006/main"/>
        </p:blipFill>
        <p:spPr>
          <a:xfrm xmlns:a="http://schemas.openxmlformats.org/drawingml/2006/main">
            <a:off x="1297951" y="990600"/>
            <a:ext cx="9596098" cy="5400675"/>
          </a:xfrm>
          <a:prstGeom xmlns:a="http://schemas.openxmlformats.org/drawingml/2006/main" prst="rect">
            <a:avLst/>
          </a:prstGeom>
        </p:spPr>
      </p:pic>
      <p:sp>
        <p:nvSpPr>
          <p:cNvPr id="9" name="top-accent">
            <a:extLst xmlns:a="http://schemas.openxmlformats.org/drawingml/2006/main">
              <a:ext uri="{FF2B5EF4-FFF2-40B4-BE49-F238E27FC236}">
                <a16:creationId xmlns:a16="http://schemas.microsoft.com/office/drawing/2014/main" id="{FC36921E-DB96-451E-9E53-FE2BD6DA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879853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9EA71A1F-B8DE-4596-B8F6-D3D19261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09 페이지 기반 작업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BA17F21B-C1B5-4CFB-B953-8A6BA079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14:57–15:22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766608-BC00-48C8-8C56-F1A5B528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페이지 Q&amp;A·관련 검색·번역을 구분합니다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3E657EB5-0EB7-4AD8-8BF6-B057F3C1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B3B4482-C21E-4FF0-A184-3266E1CE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1F9A0B1-6D4C-4DEC-A2A3-7BB04B0A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28DCF97-C51C-4F3B-B02D-7C187351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33400" y="1990725"/>
          <a:ext xmlns:a="http://schemas.openxmlformats.org/drawingml/2006/main" cx="11125200" cy="3076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743950"/>
              </a:tblGrid>
              <a:tr h="769144">
                <a:tc>
                  <a:txBody>
                    <a:bodyPr wrap="square" lIns="133350" tIns="95250" rIns="95250" bIns="762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하고 싶은 일</a:t>
                      </a:r>
                    </a:p>
                  </a:txBody>
                  <a:tcPr marL="91440" marR="91440" marT="45720" marB="45720" anchor="ctr">
                    <a:solidFill>
                      <a:srgbClr val="14263D"/>
                    </a:solidFill>
                  </a:tcPr>
                </a:tc>
                <a:tc>
                  <a:txBody>
                    <a:bodyPr wrap="square" lIns="133350" tIns="95250" rIns="95250" bIns="762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그대로 입력할 문장</a:t>
                      </a:r>
                    </a:p>
                  </a:txBody>
                  <a:tcPr marL="91440" marR="91440" marT="45720" marB="45720" anchor="ctr">
                    <a:solidFill>
                      <a:srgbClr val="14263D"/>
                    </a:solidFill>
                  </a:tcPr>
                </a:tc>
              </a:tr>
              <a:tr h="769144">
                <a:tc>
                  <a:txBody>
                    <a:bodyPr wrap="square" lIns="133350" tIns="95250" rIns="95250" bIns="762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2864DC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현재 페이지 Q&amp;A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952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63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신청 마감은 언제야? 근거 문장도 보여 줘.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133350" tIns="95250" rIns="95250" bIns="762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2864DC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관련 웹 검색</a:t>
                      </a:r>
                    </a:p>
                  </a:txBody>
                  <a:tcPr marL="91440" marR="91440" marT="45720" marB="45720" anchor="ctr">
                    <a:solidFill>
                      <a:srgbClr val="F0F6FA"/>
                    </a:solidFill>
                  </a:tcPr>
                </a:tc>
                <a:tc>
                  <a:txBody>
                    <a:bodyPr wrap="square" lIns="133350" tIns="95250" rIns="952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63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 공지와 관련된 공개 운영 사례를 찾아 줘.</a:t>
                      </a:r>
                    </a:p>
                  </a:txBody>
                  <a:tcPr marL="91440" marR="91440" marT="45720" marB="45720" anchor="ctr">
                    <a:solidFill>
                      <a:srgbClr val="F0F6FA"/>
                    </a:solidFill>
                  </a:tcPr>
                </a:tc>
              </a:tr>
              <a:tr h="769144">
                <a:tc>
                  <a:txBody>
                    <a:bodyPr wrap="square" lIns="133350" tIns="95250" rIns="95250" bIns="762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2864DC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번역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952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63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 공지를 영어로 번역하고 날짜는 유지해.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able-caption">
            <a:extLst xmlns:a="http://schemas.openxmlformats.org/drawingml/2006/main">
              <a:ext uri="{FF2B5EF4-FFF2-40B4-BE49-F238E27FC236}">
                <a16:creationId xmlns:a16="http://schemas.microsoft.com/office/drawing/2014/main" id="{F237A557-F627-4611-97C0-566B7BDF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페이지의 사실과 외부 웹의 일반 정보를 분리합니다.</a:t>
            </a:r>
          </a:p>
        </p:txBody>
      </p:sp>
      <p:sp>
        <p:nvSpPr>
          <p:cNvPr id="1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29A3162-9E31-47AC-AB2D-33C1000B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0a85e327a4886"/>
          <a:stretch xmlns:a="http://schemas.openxmlformats.org/drawingml/2006/main"/>
        </p:blipFill>
        <p:spPr>
          <a:xfrm xmlns:a="http://schemas.openxmlformats.org/drawingml/2006/main">
            <a:off x="533400" y="227751"/>
            <a:ext cx="381000" cy="344599"/>
          </a:xfrm>
          <a:prstGeom xmlns:a="http://schemas.openxmlformats.org/drawingml/2006/main" prst="rect">
            <a:avLst/>
          </a:prstGeom>
        </p:spPr>
      </p:pic>
      <p:sp>
        <p:nvSpPr>
          <p:cNvPr id="14" name="prompt-reference">
            <a:extLst xmlns:a="http://schemas.openxmlformats.org/drawingml/2006/main">
              <a:ext uri="{FF2B5EF4-FFF2-40B4-BE49-F238E27FC236}">
                <a16:creationId xmlns:a16="http://schemas.microsoft.com/office/drawing/2014/main" id="{05F378D9-350A-45D8-ADB0-F360D4C0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47825"/>
            <a:ext cx="1112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상세 원문  P17 27쪽 · P18 28쪽</a:t>
            </a:r>
          </a:p>
        </p:txBody>
      </p:sp>
    </p:spTree>
    <p:extLst>
      <p:ext uri="{BB962C8B-B14F-4D97-AF65-F5344CB8AC3E}">
        <p14:creationId xmlns:p14="http://schemas.microsoft.com/office/powerpoint/2010/main" val="9965667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C63E1B9D-C009-4FFB-A65A-6860AA13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09 페이지 기반 작업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DD18E1FE-D04B-47EB-B663-39634331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14:57–15:22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674EE1-B144-4CB9-A12F-66FFA924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현재 페이지의 빈 정보를 추측하지 않습니다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065F2136-3DF5-4892-A188-E6FA5E5B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98202329-C259-413F-9437-55E5CFD0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F7AFDAC-66C3-48EE-BC43-8C7316AB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FD8165-7C06-46D9-9874-DDC2E416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sp>
        <p:nvSpPr>
          <p:cNvPr id="8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66A806ED-2049-4CF2-8D9A-872D8F2F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022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상세 원문  P17 27쪽</a:t>
            </a:r>
          </a:p>
        </p:txBody>
      </p:sp>
      <p:sp>
        <p:nvSpPr>
          <p:cNvPr id="9" name="prompt-background">
            <a:extLst xmlns:a="http://schemas.openxmlformats.org/drawingml/2006/main">
              <a:ext uri="{FF2B5EF4-FFF2-40B4-BE49-F238E27FC236}">
                <a16:creationId xmlns:a16="http://schemas.microsoft.com/office/drawing/2014/main" id="{DB3CB05E-4883-4789-A529-16E1886B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90775"/>
            <a:ext cx="11125200" cy="2524125"/>
          </a:xfrm>
          <a:prstGeom xmlns:a="http://schemas.openxmlformats.org/drawingml/2006/main" prst="roundRect">
            <a:avLst>
              <a:gd name="adj" fmla="val 5283"/>
            </a:avLst>
          </a:prstGeom>
          <a:solidFill xmlns:a="http://schemas.openxmlformats.org/drawingml/2006/main">
            <a:srgbClr val="EDF4FC"/>
          </a:solidFill>
          <a:ln xmlns:a="http://schemas.openxmlformats.org/drawingml/2006/main" w="0">
            <a:noFill/>
          </a:ln>
        </p:spPr>
      </p:sp>
      <p:sp>
        <p:nvSpPr>
          <p:cNvPr id="10" name="copyable-prompt">
            <a:extLst xmlns:a="http://schemas.openxmlformats.org/drawingml/2006/main">
              <a:ext uri="{FF2B5EF4-FFF2-40B4-BE49-F238E27FC236}">
                <a16:creationId xmlns:a16="http://schemas.microsoft.com/office/drawing/2014/main" id="{5F170328-6286-442C-8909-FFE0D8EF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05918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긴 공지의 전체 본문을 읽고 질문에 답해 줘.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일시·장소·준비물·결과 저장 위치를 확인하고,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각 답변에 근거 절과 문장을 붙여 줘.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참가비·취소 방법이 없으면 없다고 표시해.</a:t>
            </a:r>
          </a:p>
        </p:txBody>
      </p:sp>
      <p:sp>
        <p:nvSpPr>
          <p:cNvPr id="11" name="expected-result">
            <a:extLst xmlns:a="http://schemas.openxmlformats.org/drawingml/2006/main">
              <a:ext uri="{FF2B5EF4-FFF2-40B4-BE49-F238E27FC236}">
                <a16:creationId xmlns:a16="http://schemas.microsoft.com/office/drawing/2014/main" id="{AE7E0448-1952-48A1-B546-2581B39C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11125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결과 확인  답·근거 절·페이지에 없는 정보</a:t>
            </a:r>
          </a:p>
        </p:txBody>
      </p:sp>
      <p:sp>
        <p:nvSpPr>
          <p:cNvPr id="13" name="top-accent">
            <a:extLst xmlns:a="http://schemas.openxmlformats.org/drawingml/2006/main">
              <a:ext uri="{FF2B5EF4-FFF2-40B4-BE49-F238E27FC236}">
                <a16:creationId xmlns:a16="http://schemas.microsoft.com/office/drawing/2014/main" id="{D86CA150-AE18-4B3C-A339-0747A828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fffb25f294d1a"/>
          <a:stretch xmlns:a="http://schemas.openxmlformats.org/drawingml/2006/main"/>
        </p:blipFill>
        <p:spPr>
          <a:xfrm xmlns:a="http://schemas.openxmlformats.org/drawingml/2006/main">
            <a:off x="533400" y="227751"/>
            <a:ext cx="381000" cy="3445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5896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DA6FEE-1005-4117-83D4-37165D36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실습 9 화면 · 긴 공지의 절별 근거를 찾습니다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EF86E2F5-6E2C-48F1-A4F8-99E63EC4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4B51DC0-BAFD-488A-B675-66F84E7F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2389621-1F67-4960-BB79-C7D338AD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09 페이지 기반 작업  |  P17 27쪽 · P18 28쪽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8FC6F02-A229-4C00-B2F9-763E185A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cd4af007e499c"/>
          <a:stretch xmlns:a="http://schemas.openxmlformats.org/drawingml/2006/main"/>
        </p:blipFill>
        <p:spPr>
          <a:xfrm xmlns:a="http://schemas.openxmlformats.org/drawingml/2006/main">
            <a:off x="1714500" y="1076325"/>
            <a:ext cx="8763000" cy="4933950"/>
          </a:xfrm>
          <a:prstGeom xmlns:a="http://schemas.openxmlformats.org/drawingml/2006/main" prst="rect">
            <a:avLst/>
          </a:prstGeom>
        </p:spPr>
      </p:pic>
      <p:sp>
        <p:nvSpPr>
          <p:cNvPr id="9" name="top-accent">
            <a:extLst xmlns:a="http://schemas.openxmlformats.org/drawingml/2006/main">
              <a:ext uri="{FF2B5EF4-FFF2-40B4-BE49-F238E27FC236}">
                <a16:creationId xmlns:a16="http://schemas.microsoft.com/office/drawing/2014/main" id="{B8811331-F5CB-4A32-A0A5-800713DC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11" name="screen-checks">
            <a:extLst xmlns:a="http://schemas.openxmlformats.org/drawingml/2006/main">
              <a:ext uri="{FF2B5EF4-FFF2-40B4-BE49-F238E27FC236}">
                <a16:creationId xmlns:a16="http://schemas.microsoft.com/office/drawing/2014/main" id="{A8DF1344-9DB4-4D29-A4E3-BFA65088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① 본문 전체   ② 근거 절   ③ 외부 정보와 구분</a:t>
            </a:r>
          </a:p>
        </p:txBody>
      </p:sp>
    </p:spTree>
    <p:extLst>
      <p:ext uri="{BB962C8B-B14F-4D97-AF65-F5344CB8AC3E}">
        <p14:creationId xmlns:p14="http://schemas.microsoft.com/office/powerpoint/2010/main" val="17015690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">
            <a:extLst xmlns:a="http://schemas.openxmlformats.org/drawingml/2006/main">
              <a:ext uri="{FF2B5EF4-FFF2-40B4-BE49-F238E27FC236}">
                <a16:creationId xmlns:a16="http://schemas.microsoft.com/office/drawing/2014/main" id="{1C67A921-3D5C-4E4C-880B-230B9902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09 페이지 기반 작업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2FF015F8-12FB-429A-B201-2B1E7105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직접 해보기 · 15분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C9143A-CB07-4F94-BB24-9033E2D7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실습 9. 긴 페이지 Q&amp;A·검색·번역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7AB25A6C-A891-46F9-A931-D68F561B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A248ECB-8BC9-4DEF-AEDE-A1356DF9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C3936EC-642B-4E0C-908D-1A51B6F8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0099E2C-EA37-4A44-9B5F-F3661710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8" name="lab-minutes">
            <a:extLst xmlns:a="http://schemas.openxmlformats.org/drawingml/2006/main">
              <a:ext uri="{FF2B5EF4-FFF2-40B4-BE49-F238E27FC236}">
                <a16:creationId xmlns:a16="http://schemas.microsoft.com/office/drawing/2014/main" id="{9B9E9DC0-AD51-4238-B6D6-9E30FD47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20478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15</a:t>
            </a:r>
          </a:p>
        </p:txBody>
      </p:sp>
      <p:sp>
        <p:nvSpPr>
          <p:cNvPr id="9" name="lab-label">
            <a:extLst xmlns:a="http://schemas.openxmlformats.org/drawingml/2006/main">
              <a:ext uri="{FF2B5EF4-FFF2-40B4-BE49-F238E27FC236}">
                <a16:creationId xmlns:a16="http://schemas.microsoft.com/office/drawing/2014/main" id="{DC29F52C-98E7-4C1C-B0D5-3851B3EE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0425"/>
            <a:ext cx="2286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분 실습</a:t>
            </a:r>
          </a:p>
        </p:txBody>
      </p:sp>
      <p:sp>
        <p:nvSpPr>
          <p:cNvPr id="10" name="lab-goal">
            <a:extLst xmlns:a="http://schemas.openxmlformats.org/drawingml/2006/main">
              <a:ext uri="{FF2B5EF4-FFF2-40B4-BE49-F238E27FC236}">
                <a16:creationId xmlns:a16="http://schemas.microsoft.com/office/drawing/2014/main" id="{E7550A6D-6EB7-4EFF-AB33-4D6BCCAC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09775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페이지와 외부 웹 정보를 구분하며 활용합니다.</a:t>
            </a:r>
          </a:p>
        </p:txBody>
      </p:sp>
      <p:sp>
        <p:nvSpPr>
          <p:cNvPr id="11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D4E5053-0FB7-4037-990E-C3F0A2E2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813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12" name="lab-step-0">
            <a:extLst xmlns:a="http://schemas.openxmlformats.org/drawingml/2006/main">
              <a:ext uri="{FF2B5EF4-FFF2-40B4-BE49-F238E27FC236}">
                <a16:creationId xmlns:a16="http://schemas.microsoft.com/office/drawing/2014/main" id="{DAAF214A-445E-4131-B839-7F4DEA0F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81350"/>
            <a:ext cx="779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5분 · 긴 페이지에서 질문과 근거 문장 찾기</a:t>
            </a:r>
          </a:p>
        </p:txBody>
      </p:sp>
      <p:sp>
        <p:nvSpPr>
          <p:cNvPr id="13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5A778667-0F44-4F5D-A4EB-7E56FF69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243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4" name="lab-step-1">
            <a:extLst xmlns:a="http://schemas.openxmlformats.org/drawingml/2006/main">
              <a:ext uri="{FF2B5EF4-FFF2-40B4-BE49-F238E27FC236}">
                <a16:creationId xmlns:a16="http://schemas.microsoft.com/office/drawing/2014/main" id="{2C010E3C-BC9E-44F8-B99B-091CF2D8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24300"/>
            <a:ext cx="779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5분 · 궁금한 주제를 공개 웹 원문으로 확인</a:t>
            </a:r>
          </a:p>
        </p:txBody>
      </p:sp>
      <p:sp>
        <p:nvSpPr>
          <p:cNvPr id="15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7DEFEB2A-E598-415E-AD9A-C4395FA1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672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DA62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DA624E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6" name="lab-step-2">
            <a:extLst xmlns:a="http://schemas.openxmlformats.org/drawingml/2006/main">
              <a:ext uri="{FF2B5EF4-FFF2-40B4-BE49-F238E27FC236}">
                <a16:creationId xmlns:a16="http://schemas.microsoft.com/office/drawing/2014/main" id="{71E09DD7-988E-4458-B79B-24E4C75E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67250"/>
            <a:ext cx="779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5분 · 영어 번역, 날짜·숫자·미정 여부 대조</a:t>
            </a:r>
          </a:p>
        </p:txBody>
      </p:sp>
      <p:sp>
        <p:nvSpPr>
          <p:cNvPr id="17" name="completion-background">
            <a:extLst xmlns:a="http://schemas.openxmlformats.org/drawingml/2006/main">
              <a:ext uri="{FF2B5EF4-FFF2-40B4-BE49-F238E27FC236}">
                <a16:creationId xmlns:a16="http://schemas.microsoft.com/office/drawing/2014/main" id="{21A19581-1E30-484E-A6A8-87937AC3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29275"/>
            <a:ext cx="111252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0">
            <a:noFill/>
          </a:ln>
        </p:spPr>
      </p:sp>
      <p:sp>
        <p:nvSpPr>
          <p:cNvPr id="18" name="completion">
            <a:extLst xmlns:a="http://schemas.openxmlformats.org/drawingml/2006/main">
              <a:ext uri="{FF2B5EF4-FFF2-40B4-BE49-F238E27FC236}">
                <a16:creationId xmlns:a16="http://schemas.microsoft.com/office/drawing/2014/main" id="{EAD9DC73-42DC-4909-A4DA-93FB300E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070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완료 기준  근거 Q&amp;A + 외부 링크 + 번역</a:t>
            </a:r>
          </a:p>
        </p:txBody>
      </p:sp>
      <p:sp>
        <p:nvSpPr>
          <p:cNvPr id="20" name="top-accent">
            <a:extLst xmlns:a="http://schemas.openxmlformats.org/drawingml/2006/main">
              <a:ext uri="{FF2B5EF4-FFF2-40B4-BE49-F238E27FC236}">
                <a16:creationId xmlns:a16="http://schemas.microsoft.com/office/drawing/2014/main" id="{47DB63E6-22C7-42A7-A389-0070B7CC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71772607b45cd"/>
          <a:stretch xmlns:a="http://schemas.openxmlformats.org/drawingml/2006/main"/>
        </p:blipFill>
        <p:spPr>
          <a:xfrm xmlns:a="http://schemas.openxmlformats.org/drawingml/2006/main">
            <a:off x="533400" y="227751"/>
            <a:ext cx="381000" cy="344599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7cdf9724604c26"/>
          <a:stretch xmlns:a="http://schemas.openxmlformats.org/drawingml/2006/main"/>
        </p:blipFill>
        <p:spPr>
          <a:xfrm xmlns:a="http://schemas.openxmlformats.org/drawingml/2006/main">
            <a:off x="819150" y="4183477"/>
            <a:ext cx="1238250" cy="1119946"/>
          </a:xfrm>
          <a:prstGeom xmlns:a="http://schemas.openxmlformats.org/drawingml/2006/main" prst="rect">
            <a:avLst/>
          </a:prstGeom>
        </p:spPr>
      </p:pic>
      <p:sp>
        <p:nvSpPr>
          <p:cNvPr id="23" name="prompt-reference">
            <a:extLst xmlns:a="http://schemas.openxmlformats.org/drawingml/2006/main">
              <a:ext uri="{FF2B5EF4-FFF2-40B4-BE49-F238E27FC236}">
                <a16:creationId xmlns:a16="http://schemas.microsoft.com/office/drawing/2014/main" id="{87FE53A3-A0EE-4363-8659-A9AED4E0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47825"/>
            <a:ext cx="1112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P17 27쪽 · P18 28쪽 · B01 32쪽</a:t>
            </a:r>
          </a:p>
        </p:txBody>
      </p:sp>
    </p:spTree>
    <p:extLst>
      <p:ext uri="{BB962C8B-B14F-4D97-AF65-F5344CB8AC3E}">
        <p14:creationId xmlns:p14="http://schemas.microsoft.com/office/powerpoint/2010/main" val="16495355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C586A23B-B9A3-45E0-B86F-58CB5B92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857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09 페이지 기반 작업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08E8D904-4E72-4865-A285-026332B3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rPr>
              <a:t>Q&amp;A · 3분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ADC2B3-8943-401D-9FAC-B93BCF8D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질문하고, 함께 확인합니다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D84ECD0E-07C3-4E9A-9299-D70E7D50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8B6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47494FC9-DE34-448C-8619-1A3F4D20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36A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1BF091A-9986-4186-AAE9-7632CA6D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C3035F-4BE8-415A-A948-BC7F4846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sp>
        <p:nvSpPr>
          <p:cNvPr id="8" name="qa-minutes">
            <a:extLst xmlns:a="http://schemas.openxmlformats.org/drawingml/2006/main">
              <a:ext uri="{FF2B5EF4-FFF2-40B4-BE49-F238E27FC236}">
                <a16:creationId xmlns:a16="http://schemas.microsoft.com/office/drawing/2014/main" id="{F9ADF462-EB7E-4F32-BB74-E191E925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22288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34D3B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700" b="1">
                <a:solidFill>
                  <a:srgbClr val="34D3BF"/>
                </a:solidFill>
                <a:latin typeface="Noto Sans CJK KR"/>
                <a:ea typeface="Noto Sans CJK KR"/>
                <a:cs typeface="Noto Sans CJK KR"/>
              </a:rPr>
              <a:t>3분</a:t>
            </a:r>
          </a:p>
        </p:txBody>
      </p:sp>
      <p:sp>
        <p:nvSpPr>
          <p:cNvPr id="9" name="qa-label">
            <a:extLst xmlns:a="http://schemas.openxmlformats.org/drawingml/2006/main">
              <a:ext uri="{FF2B5EF4-FFF2-40B4-BE49-F238E27FC236}">
                <a16:creationId xmlns:a16="http://schemas.microsoft.com/office/drawing/2014/main" id="{39100EE7-5538-4F28-B868-E9863C4D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95625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함께 확인</a:t>
            </a:r>
          </a:p>
        </p:txBody>
      </p:sp>
      <p:sp>
        <p:nvSpPr>
          <p:cNvPr id="10" name="question-number-0">
            <a:extLst xmlns:a="http://schemas.openxmlformats.org/drawingml/2006/main">
              <a:ext uri="{FF2B5EF4-FFF2-40B4-BE49-F238E27FC236}">
                <a16:creationId xmlns:a16="http://schemas.microsoft.com/office/drawing/2014/main" id="{B299C271-3EB6-440C-B96E-5B8EB260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383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66A1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66A1FF"/>
                </a:solidFill>
                <a:latin typeface="Noto Sans CJK KR"/>
                <a:ea typeface="Noto Sans CJK KR"/>
                <a:cs typeface="Noto Sans CJK KR"/>
              </a:rPr>
              <a:t>Q1</a:t>
            </a:r>
          </a:p>
        </p:txBody>
      </p:sp>
      <p:sp>
        <p:nvSpPr>
          <p:cNvPr id="11" name="question-0">
            <a:extLst xmlns:a="http://schemas.openxmlformats.org/drawingml/2006/main">
              <a:ext uri="{FF2B5EF4-FFF2-40B4-BE49-F238E27FC236}">
                <a16:creationId xmlns:a16="http://schemas.microsoft.com/office/drawing/2014/main" id="{B5E80353-F5F7-4051-8432-19F827B6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73437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답은 자연스러운데 원문에 없다면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어떻게 해야 할까요?</a:t>
            </a:r>
          </a:p>
        </p:txBody>
      </p:sp>
      <p:sp>
        <p:nvSpPr>
          <p:cNvPr id="12" name="question-number-1">
            <a:extLst xmlns:a="http://schemas.openxmlformats.org/drawingml/2006/main">
              <a:ext uri="{FF2B5EF4-FFF2-40B4-BE49-F238E27FC236}">
                <a16:creationId xmlns:a16="http://schemas.microsoft.com/office/drawing/2014/main" id="{643AAA01-16D0-4EDE-9994-95A8D3EA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385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AB9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FFAB99"/>
                </a:solidFill>
                <a:latin typeface="Noto Sans CJK KR"/>
                <a:ea typeface="Noto Sans CJK KR"/>
                <a:cs typeface="Noto Sans CJK KR"/>
              </a:rPr>
              <a:t>Q2</a:t>
            </a:r>
          </a:p>
        </p:txBody>
      </p:sp>
      <p:sp>
        <p:nvSpPr>
          <p:cNvPr id="13" name="question-1">
            <a:extLst xmlns:a="http://schemas.openxmlformats.org/drawingml/2006/main">
              <a:ext uri="{FF2B5EF4-FFF2-40B4-BE49-F238E27FC236}">
                <a16:creationId xmlns:a16="http://schemas.microsoft.com/office/drawing/2014/main" id="{6CA93862-5299-48A2-8FC6-31CD3795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38500"/>
            <a:ext cx="73437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화면의 첨부 파일 내용도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자동으로 읽었다고 볼 수 있나요?</a:t>
            </a:r>
          </a:p>
        </p:txBody>
      </p:sp>
      <p:sp>
        <p:nvSpPr>
          <p:cNvPr id="14" name="qa-check">
            <a:extLst xmlns:a="http://schemas.openxmlformats.org/drawingml/2006/main">
              <a:ext uri="{FF2B5EF4-FFF2-40B4-BE49-F238E27FC236}">
                <a16:creationId xmlns:a16="http://schemas.microsoft.com/office/drawing/2014/main" id="{B81DF394-D350-4380-BB4C-32C00E58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8BE2D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8BE2D6"/>
                </a:solidFill>
                <a:latin typeface="Noto Sans CJK KR"/>
                <a:ea typeface="Noto Sans CJK KR"/>
                <a:cs typeface="Noto Sans CJK KR"/>
              </a:rPr>
              <a:t>답변과 근거 문장을 짝지을 수 있으면 완료</a:t>
            </a:r>
          </a:p>
        </p:txBody>
      </p:sp>
      <p:sp>
        <p:nvSpPr>
          <p:cNvPr id="16" name="top-accent">
            <a:extLst xmlns:a="http://schemas.openxmlformats.org/drawingml/2006/main">
              <a:ext uri="{FF2B5EF4-FFF2-40B4-BE49-F238E27FC236}">
                <a16:creationId xmlns:a16="http://schemas.microsoft.com/office/drawing/2014/main" id="{7B2BC0A1-9A70-45F5-85EF-9E2A6857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085831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">
            <a:extLst xmlns:a="http://schemas.openxmlformats.org/drawingml/2006/main">
              <a:ext uri="{FF2B5EF4-FFF2-40B4-BE49-F238E27FC236}">
                <a16:creationId xmlns:a16="http://schemas.microsoft.com/office/drawing/2014/main" id="{C652C540-5712-40F1-B57F-47AB0ACB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10 딥링크 / WebMCP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806DEB6F-41AB-4AE8-B2B9-EA9E353B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15:22–15:40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5AA7BA-2DE6-4CBB-8078-58EEE3D0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같은 사이트도 WebMCP 유무가 다릅니다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3BE6C40C-7E04-4573-B7E7-18145363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2D7F3152-A605-4A09-93AD-B4185DB9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0BAA35-E7B6-449C-9DF9-297FF9A4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9E2A3F4-DD3C-4497-B7BF-9B9D4539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1FB81A7A-3A04-4CFD-8C8D-2A7E5D5D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71675"/>
            <a:ext cx="9525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9" name="column-heading-0">
            <a:extLst xmlns:a="http://schemas.openxmlformats.org/drawingml/2006/main">
              <a:ext uri="{FF2B5EF4-FFF2-40B4-BE49-F238E27FC236}">
                <a16:creationId xmlns:a16="http://schemas.microsoft.com/office/drawing/2014/main" id="{18934D84-40BC-4AF7-8CBC-95E3EEC8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데모 사이트 1A · 미연결</a:t>
            </a:r>
          </a:p>
        </p:txBody>
      </p:sp>
      <p:sp>
        <p:nvSpPr>
          <p:cNvPr id="10" name="col-title-0-0">
            <a:extLst xmlns:a="http://schemas.openxmlformats.org/drawingml/2006/main">
              <a:ext uri="{FF2B5EF4-FFF2-40B4-BE49-F238E27FC236}">
                <a16:creationId xmlns:a16="http://schemas.microsoft.com/office/drawing/2014/main" id="{EB6A395B-65A2-42D6-9A17-029F462F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0825"/>
            <a:ext cx="521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화면에서 조건 선택</a:t>
            </a:r>
          </a:p>
        </p:txBody>
      </p:sp>
      <p:sp>
        <p:nvSpPr>
          <p:cNvPr id="11" name="col-body-0-0">
            <a:extLst xmlns:a="http://schemas.openxmlformats.org/drawingml/2006/main">
              <a:ext uri="{FF2B5EF4-FFF2-40B4-BE49-F238E27FC236}">
                <a16:creationId xmlns:a16="http://schemas.microsoft.com/office/drawing/2014/main" id="{784E5DF3-1F58-4DC2-968D-C5ADE829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48025"/>
            <a:ext cx="5219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조회 월·부서를 클릭해 입력</a:t>
            </a:r>
          </a:p>
        </p:txBody>
      </p:sp>
      <p:sp>
        <p:nvSpPr>
          <p:cNvPr id="12" name="col-title-0-1">
            <a:extLst xmlns:a="http://schemas.openxmlformats.org/drawingml/2006/main">
              <a:ext uri="{FF2B5EF4-FFF2-40B4-BE49-F238E27FC236}">
                <a16:creationId xmlns:a16="http://schemas.microsoft.com/office/drawing/2014/main" id="{53E89472-5863-47C0-B5B9-C1026B3D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57625"/>
            <a:ext cx="521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버튼과 표를 읽기</a:t>
            </a:r>
          </a:p>
        </p:txBody>
      </p:sp>
      <p:sp>
        <p:nvSpPr>
          <p:cNvPr id="13" name="col-body-0-1">
            <a:extLst xmlns:a="http://schemas.openxmlformats.org/drawingml/2006/main">
              <a:ext uri="{FF2B5EF4-FFF2-40B4-BE49-F238E27FC236}">
                <a16:creationId xmlns:a16="http://schemas.microsoft.com/office/drawing/2014/main" id="{D749A973-8B53-49C9-91B9-A4BF486E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14825"/>
            <a:ext cx="5219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조회 후 화면의 숫자를 확인</a:t>
            </a:r>
          </a:p>
        </p:txBody>
      </p:sp>
      <p:sp>
        <p:nvSpPr>
          <p:cNvPr id="14" name="col-title-0-2">
            <a:extLst xmlns:a="http://schemas.openxmlformats.org/drawingml/2006/main">
              <a:ext uri="{FF2B5EF4-FFF2-40B4-BE49-F238E27FC236}">
                <a16:creationId xmlns:a16="http://schemas.microsoft.com/office/drawing/2014/main" id="{E3AC8624-63B3-4B0D-BB43-0951F974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24425"/>
            <a:ext cx="521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화면 변화에 대응</a:t>
            </a:r>
          </a:p>
        </p:txBody>
      </p:sp>
      <p:sp>
        <p:nvSpPr>
          <p:cNvPr id="15" name="col-body-0-2">
            <a:extLst xmlns:a="http://schemas.openxmlformats.org/drawingml/2006/main">
              <a:ext uri="{FF2B5EF4-FFF2-40B4-BE49-F238E27FC236}">
                <a16:creationId xmlns:a16="http://schemas.microsoft.com/office/drawing/2014/main" id="{22FA1898-A212-4192-B0D3-D863DD69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5219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배치·로딩·팝업을 확인해야 함</a:t>
            </a:r>
          </a:p>
        </p:txBody>
      </p:sp>
      <p:sp>
        <p:nvSpPr>
          <p:cNvPr id="16" name="column-heading-1">
            <a:extLst xmlns:a="http://schemas.openxmlformats.org/drawingml/2006/main">
              <a:ext uri="{FF2B5EF4-FFF2-40B4-BE49-F238E27FC236}">
                <a16:creationId xmlns:a16="http://schemas.microsoft.com/office/drawing/2014/main" id="{2874EA7A-3E56-4102-8215-8DC0B609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28825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데모 사이트 1B · 연결</a:t>
            </a:r>
          </a:p>
        </p:txBody>
      </p:sp>
      <p:sp>
        <p:nvSpPr>
          <p:cNvPr id="17" name="col-title-1-0">
            <a:extLst xmlns:a="http://schemas.openxmlformats.org/drawingml/2006/main">
              <a:ext uri="{FF2B5EF4-FFF2-40B4-BE49-F238E27FC236}">
                <a16:creationId xmlns:a16="http://schemas.microsoft.com/office/drawing/2014/main" id="{9687E57B-B92E-47B3-A11F-9E7921D8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90825"/>
            <a:ext cx="521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조회 도구가 노출됨</a:t>
            </a:r>
          </a:p>
        </p:txBody>
      </p:sp>
      <p:sp>
        <p:nvSpPr>
          <p:cNvPr id="18" name="col-body-1-0">
            <a:extLst xmlns:a="http://schemas.openxmlformats.org/drawingml/2006/main">
              <a:ext uri="{FF2B5EF4-FFF2-40B4-BE49-F238E27FC236}">
                <a16:creationId xmlns:a16="http://schemas.microsoft.com/office/drawing/2014/main" id="{0F471057-C4EE-486D-B953-B373E5E3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48025"/>
            <a:ext cx="5219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동일한 교육비 데이터 사용</a:t>
            </a:r>
          </a:p>
        </p:txBody>
      </p:sp>
      <p:sp>
        <p:nvSpPr>
          <p:cNvPr id="19" name="col-title-1-1">
            <a:extLst xmlns:a="http://schemas.openxmlformats.org/drawingml/2006/main">
              <a:ext uri="{FF2B5EF4-FFF2-40B4-BE49-F238E27FC236}">
                <a16:creationId xmlns:a16="http://schemas.microsoft.com/office/drawing/2014/main" id="{99BF352F-4059-4A34-B665-12FADDF5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57625"/>
            <a:ext cx="521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조건을 도구에 전달</a:t>
            </a:r>
          </a:p>
        </p:txBody>
      </p:sp>
      <p:sp>
        <p:nvSpPr>
          <p:cNvPr id="20" name="col-body-1-1">
            <a:extLst xmlns:a="http://schemas.openxmlformats.org/drawingml/2006/main">
              <a:ext uri="{FF2B5EF4-FFF2-40B4-BE49-F238E27FC236}">
                <a16:creationId xmlns:a16="http://schemas.microsoft.com/office/drawing/2014/main" id="{7DBDABD4-DE8E-4456-95D5-43CD2102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14825"/>
            <a:ext cx="5219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구조화된 항목과 합계를 받음</a:t>
            </a:r>
          </a:p>
        </p:txBody>
      </p:sp>
      <p:sp>
        <p:nvSpPr>
          <p:cNvPr id="21" name="col-title-1-2">
            <a:extLst xmlns:a="http://schemas.openxmlformats.org/drawingml/2006/main">
              <a:ext uri="{FF2B5EF4-FFF2-40B4-BE49-F238E27FC236}">
                <a16:creationId xmlns:a16="http://schemas.microsoft.com/office/drawing/2014/main" id="{23A9679B-C405-40DA-A3A8-7CB1D1A2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24425"/>
            <a:ext cx="521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지원 상태를 확인</a:t>
            </a:r>
          </a:p>
        </p:txBody>
      </p:sp>
      <p:sp>
        <p:nvSpPr>
          <p:cNvPr id="22" name="col-body-1-2">
            <a:extLst xmlns:a="http://schemas.openxmlformats.org/drawingml/2006/main">
              <a:ext uri="{FF2B5EF4-FFF2-40B4-BE49-F238E27FC236}">
                <a16:creationId xmlns:a16="http://schemas.microsoft.com/office/drawing/2014/main" id="{D195BEA7-BD6E-4A79-A40E-9D8A6E29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81625"/>
            <a:ext cx="5219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미지원이면 화면 조회와 구분</a:t>
            </a:r>
          </a:p>
        </p:txBody>
      </p:sp>
      <p:sp>
        <p:nvSpPr>
          <p:cNvPr id="24" name="top-accent">
            <a:extLst xmlns:a="http://schemas.openxmlformats.org/drawingml/2006/main">
              <a:ext uri="{FF2B5EF4-FFF2-40B4-BE49-F238E27FC236}">
                <a16:creationId xmlns:a16="http://schemas.microsoft.com/office/drawing/2014/main" id="{606A5D5C-D5AC-4E0F-BFC2-9FDAF00C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90c2e169146ef"/>
          <a:stretch xmlns:a="http://schemas.openxmlformats.org/drawingml/2006/main"/>
        </p:blipFill>
        <p:spPr>
          <a:xfrm xmlns:a="http://schemas.openxmlformats.org/drawingml/2006/main">
            <a:off x="533400" y="227751"/>
            <a:ext cx="381000" cy="344599"/>
          </a:xfrm>
          <a:prstGeom xmlns:a="http://schemas.openxmlformats.org/drawingml/2006/main" prst="rect">
            <a:avLst/>
          </a:prstGeom>
        </p:spPr>
      </p:pic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75a8855d348f2"/>
          <a:stretch xmlns:a="http://schemas.openxmlformats.org/drawingml/2006/main"/>
        </p:blipFill>
        <p:spPr>
          <a:xfrm xmlns:a="http://schemas.openxmlformats.org/drawingml/2006/main">
            <a:off x="533400" y="1972221"/>
            <a:ext cx="609600" cy="551358"/>
          </a:xfrm>
          <a:prstGeom xmlns:a="http://schemas.openxmlformats.org/drawingml/2006/main" prst="rect">
            <a:avLst/>
          </a:prstGeom>
        </p:spPr>
      </p:pic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c4683be1c4d5d"/>
          <a:stretch xmlns:a="http://schemas.openxmlformats.org/drawingml/2006/main"/>
        </p:blipFill>
        <p:spPr>
          <a:xfrm xmlns:a="http://schemas.openxmlformats.org/drawingml/2006/main">
            <a:off x="6438900" y="1972221"/>
            <a:ext cx="609600" cy="551358"/>
          </a:xfrm>
          <a:prstGeom xmlns:a="http://schemas.openxmlformats.org/drawingml/2006/main" prst="rect">
            <a:avLst/>
          </a:prstGeom>
        </p:spPr>
      </p:pic>
      <p:sp>
        <p:nvSpPr>
          <p:cNvPr id="28" name="prompt-reference">
            <a:extLst xmlns:a="http://schemas.openxmlformats.org/drawingml/2006/main">
              <a:ext uri="{FF2B5EF4-FFF2-40B4-BE49-F238E27FC236}">
                <a16:creationId xmlns:a16="http://schemas.microsoft.com/office/drawing/2014/main" id="{C5150168-4758-44E9-B01A-183EEF4C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47825"/>
            <a:ext cx="1112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상세 원문  P19 29쪽</a:t>
            </a:r>
          </a:p>
        </p:txBody>
      </p:sp>
    </p:spTree>
    <p:extLst>
      <p:ext uri="{BB962C8B-B14F-4D97-AF65-F5344CB8AC3E}">
        <p14:creationId xmlns:p14="http://schemas.microsoft.com/office/powerpoint/2010/main" val="6765826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8A88FC-07A5-4F44-A652-312EA37B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1A에서는 화면으로 같은 데이터를 조회합니다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D94AD274-455F-4BD4-B9AD-853CDDD0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E16382D-7BD3-40F8-9744-C5267362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3D514F3-2111-4CB5-91EC-D6A252C8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10 딥링크 / WebMCP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0C03FB1-C2B9-4626-8519-D4B7AC2B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c529effea4e56"/>
          <a:stretch xmlns:a="http://schemas.openxmlformats.org/drawingml/2006/main"/>
        </p:blipFill>
        <p:spPr>
          <a:xfrm xmlns:a="http://schemas.openxmlformats.org/drawingml/2006/main">
            <a:off x="1297951" y="990600"/>
            <a:ext cx="9596098" cy="5400675"/>
          </a:xfrm>
          <a:prstGeom xmlns:a="http://schemas.openxmlformats.org/drawingml/2006/main" prst="rect">
            <a:avLst/>
          </a:prstGeom>
        </p:spPr>
      </p:pic>
      <p:sp>
        <p:nvSpPr>
          <p:cNvPr id="9" name="top-accent">
            <a:extLst xmlns:a="http://schemas.openxmlformats.org/drawingml/2006/main">
              <a:ext uri="{FF2B5EF4-FFF2-40B4-BE49-F238E27FC236}">
                <a16:creationId xmlns:a16="http://schemas.microsoft.com/office/drawing/2014/main" id="{4F197E97-9AB3-42D6-BF77-B2104C61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228834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DA6FEE-1005-4117-83D4-37165D36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1B에서는 WebMCP 조회 도구를 사용합니다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EF86E2F5-6E2C-48F1-A4F8-99E63EC4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4B51DC0-BAFD-488A-B675-66F84E7F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2389621-1F67-4960-BB79-C7D338AD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10 딥링크 / WebMCP  |  P19 29쪽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8FC6F02-A229-4C00-B2F9-763E185A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d5d1a6ed014a89"/>
          <a:stretch xmlns:a="http://schemas.openxmlformats.org/drawingml/2006/main"/>
        </p:blipFill>
        <p:spPr>
          <a:xfrm xmlns:a="http://schemas.openxmlformats.org/drawingml/2006/main">
            <a:off x="1714500" y="1076325"/>
            <a:ext cx="8763000" cy="4933950"/>
          </a:xfrm>
          <a:prstGeom xmlns:a="http://schemas.openxmlformats.org/drawingml/2006/main" prst="rect">
            <a:avLst/>
          </a:prstGeom>
        </p:spPr>
      </p:pic>
      <p:sp>
        <p:nvSpPr>
          <p:cNvPr id="9" name="top-accent">
            <a:extLst xmlns:a="http://schemas.openxmlformats.org/drawingml/2006/main">
              <a:ext uri="{FF2B5EF4-FFF2-40B4-BE49-F238E27FC236}">
                <a16:creationId xmlns:a16="http://schemas.microsoft.com/office/drawing/2014/main" id="{B8811331-F5CB-4A32-A0A5-800713DC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11" name="screen-checks">
            <a:extLst xmlns:a="http://schemas.openxmlformats.org/drawingml/2006/main">
              <a:ext uri="{FF2B5EF4-FFF2-40B4-BE49-F238E27FC236}">
                <a16:creationId xmlns:a16="http://schemas.microsoft.com/office/drawing/2014/main" id="{F802EA67-DE5C-4FB3-B3E1-53F8C3E2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① 도구 연결 상태   ② 같은 조회 조건   ③ 같은 결과</a:t>
            </a:r>
          </a:p>
        </p:txBody>
      </p:sp>
    </p:spTree>
    <p:extLst>
      <p:ext uri="{BB962C8B-B14F-4D97-AF65-F5344CB8AC3E}">
        <p14:creationId xmlns:p14="http://schemas.microsoft.com/office/powerpoint/2010/main" val="17015690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">
            <a:extLst xmlns:a="http://schemas.openxmlformats.org/drawingml/2006/main">
              <a:ext uri="{FF2B5EF4-FFF2-40B4-BE49-F238E27FC236}">
                <a16:creationId xmlns:a16="http://schemas.microsoft.com/office/drawing/2014/main" id="{53F72D65-3A0D-4A45-AAD4-4BA1213D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10 딥링크 / WebMCP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FDDE0CC6-D851-46E6-9486-B910FDED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15:22–15:40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478E43-A152-4168-8229-A7FFACBD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속도보다 먼저 수행 방식과 결과를 비교합니다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01B07CC7-4D1F-4A9E-908A-CC217FAD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50DE693-38C1-4D7F-85A0-69F71760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882C3B0-C114-4F4C-9F23-1553D8B5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4A9867C-F121-47C2-9098-D9C5EA2C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15</a:t>
            </a:r>
          </a:p>
        </p:txBody>
      </p:sp>
      <p:sp>
        <p:nvSpPr>
          <p:cNvPr id="8" name="item-number-0">
            <a:extLst xmlns:a="http://schemas.openxmlformats.org/drawingml/2006/main">
              <a:ext uri="{FF2B5EF4-FFF2-40B4-BE49-F238E27FC236}">
                <a16:creationId xmlns:a16="http://schemas.microsoft.com/office/drawing/2014/main" id="{63C4A18A-F681-43E0-92D5-16AAC3CE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9" name="item-title-0">
            <a:extLst xmlns:a="http://schemas.openxmlformats.org/drawingml/2006/main">
              <a:ext uri="{FF2B5EF4-FFF2-40B4-BE49-F238E27FC236}">
                <a16:creationId xmlns:a16="http://schemas.microsoft.com/office/drawing/2014/main" id="{B90B042B-B283-4A19-8E49-D5E5292F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288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같은 입력</a:t>
            </a:r>
          </a:p>
        </p:txBody>
      </p:sp>
      <p:sp>
        <p:nvSpPr>
          <p:cNvPr id="10" name="item-body-0">
            <a:extLst xmlns:a="http://schemas.openxmlformats.org/drawingml/2006/main">
              <a:ext uri="{FF2B5EF4-FFF2-40B4-BE49-F238E27FC236}">
                <a16:creationId xmlns:a16="http://schemas.microsoft.com/office/drawing/2014/main" id="{7863C2F4-CBEA-4991-951D-53D02087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두 사이트 모두 2026-09 · 경영지원으로 조회</a:t>
            </a:r>
          </a:p>
        </p:txBody>
      </p:sp>
      <p:sp>
        <p:nvSpPr>
          <p:cNvPr id="11" name="item-number-1">
            <a:extLst xmlns:a="http://schemas.openxmlformats.org/drawingml/2006/main">
              <a:ext uri="{FF2B5EF4-FFF2-40B4-BE49-F238E27FC236}">
                <a16:creationId xmlns:a16="http://schemas.microsoft.com/office/drawing/2014/main" id="{478BD95F-1AB2-4EDD-AAED-62B7C878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2" name="item-title-1">
            <a:extLst xmlns:a="http://schemas.openxmlformats.org/drawingml/2006/main">
              <a:ext uri="{FF2B5EF4-FFF2-40B4-BE49-F238E27FC236}">
                <a16:creationId xmlns:a16="http://schemas.microsoft.com/office/drawing/2014/main" id="{1046740D-4947-4755-A287-F4A625EA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099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다른 수행 방식</a:t>
            </a:r>
          </a:p>
        </p:txBody>
      </p:sp>
      <p:sp>
        <p:nvSpPr>
          <p:cNvPr id="13" name="item-body-1">
            <a:extLst xmlns:a="http://schemas.openxmlformats.org/drawingml/2006/main">
              <a:ext uri="{FF2B5EF4-FFF2-40B4-BE49-F238E27FC236}">
                <a16:creationId xmlns:a16="http://schemas.microsoft.com/office/drawing/2014/main" id="{78C08F1E-E785-4298-9A78-91B0EB83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1A 화면 조작 / 1B 연결된 도구 호출</a:t>
            </a:r>
          </a:p>
        </p:txBody>
      </p:sp>
      <p:sp>
        <p:nvSpPr>
          <p:cNvPr id="14" name="item-number-2">
            <a:extLst xmlns:a="http://schemas.openxmlformats.org/drawingml/2006/main">
              <a:ext uri="{FF2B5EF4-FFF2-40B4-BE49-F238E27FC236}">
                <a16:creationId xmlns:a16="http://schemas.microsoft.com/office/drawing/2014/main" id="{614F77D3-BD49-47DD-8B92-CECDA682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863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5" name="item-title-2">
            <a:extLst xmlns:a="http://schemas.openxmlformats.org/drawingml/2006/main">
              <a:ext uri="{FF2B5EF4-FFF2-40B4-BE49-F238E27FC236}">
                <a16:creationId xmlns:a16="http://schemas.microsoft.com/office/drawing/2014/main" id="{5E49B5A9-EF27-484E-BB16-1A4F4D08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910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동일한 업무 결과</a:t>
            </a:r>
          </a:p>
        </p:txBody>
      </p:sp>
      <p:sp>
        <p:nvSpPr>
          <p:cNvPr id="16" name="item-body-2">
            <a:extLst xmlns:a="http://schemas.openxmlformats.org/drawingml/2006/main">
              <a:ext uri="{FF2B5EF4-FFF2-40B4-BE49-F238E27FC236}">
                <a16:creationId xmlns:a16="http://schemas.microsoft.com/office/drawing/2014/main" id="{84CCD3C3-0E86-4817-9D8B-F3B6E14E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863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항목 5개 · 예산 400만원 · 실적 418만원 대조</a:t>
            </a:r>
          </a:p>
        </p:txBody>
      </p:sp>
      <p:sp>
        <p:nvSpPr>
          <p:cNvPr id="18" name="top-accent">
            <a:extLst xmlns:a="http://schemas.openxmlformats.org/drawingml/2006/main">
              <a:ext uri="{FF2B5EF4-FFF2-40B4-BE49-F238E27FC236}">
                <a16:creationId xmlns:a16="http://schemas.microsoft.com/office/drawing/2014/main" id="{E80E90BA-FA31-465B-A66E-923E12FB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97b81bb6a4b17"/>
          <a:stretch xmlns:a="http://schemas.openxmlformats.org/drawingml/2006/main"/>
        </p:blipFill>
        <p:spPr>
          <a:xfrm xmlns:a="http://schemas.openxmlformats.org/drawingml/2006/main">
            <a:off x="533400" y="227751"/>
            <a:ext cx="381000" cy="344599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3bc39022a44130"/>
          <a:stretch xmlns:a="http://schemas.openxmlformats.org/drawingml/2006/main"/>
        </p:blipFill>
        <p:spPr>
          <a:xfrm xmlns:a="http://schemas.openxmlformats.org/drawingml/2006/main">
            <a:off x="533400" y="2059766"/>
            <a:ext cx="647700" cy="585818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d653c8e25469a"/>
          <a:stretch xmlns:a="http://schemas.openxmlformats.org/drawingml/2006/main"/>
        </p:blipFill>
        <p:spPr>
          <a:xfrm xmlns:a="http://schemas.openxmlformats.org/drawingml/2006/main">
            <a:off x="533400" y="3240866"/>
            <a:ext cx="647700" cy="585818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6ca20ae8745be"/>
          <a:stretch xmlns:a="http://schemas.openxmlformats.org/drawingml/2006/main"/>
        </p:blipFill>
        <p:spPr>
          <a:xfrm xmlns:a="http://schemas.openxmlformats.org/drawingml/2006/main">
            <a:off x="533400" y="4391025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23" name="prompt-reference">
            <a:extLst xmlns:a="http://schemas.openxmlformats.org/drawingml/2006/main">
              <a:ext uri="{FF2B5EF4-FFF2-40B4-BE49-F238E27FC236}">
                <a16:creationId xmlns:a16="http://schemas.microsoft.com/office/drawing/2014/main" id="{0363429A-7E24-4EC3-91BF-9DC54642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47825"/>
            <a:ext cx="1112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상세 원문  P19 29쪽</a:t>
            </a:r>
          </a:p>
        </p:txBody>
      </p:sp>
    </p:spTree>
    <p:extLst>
      <p:ext uri="{BB962C8B-B14F-4D97-AF65-F5344CB8AC3E}">
        <p14:creationId xmlns:p14="http://schemas.microsoft.com/office/powerpoint/2010/main" val="9023389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">
            <a:extLst xmlns:a="http://schemas.openxmlformats.org/drawingml/2006/main">
              <a:ext uri="{FF2B5EF4-FFF2-40B4-BE49-F238E27FC236}">
                <a16:creationId xmlns:a16="http://schemas.microsoft.com/office/drawing/2014/main" id="{5083645D-A5B4-41FC-9FBC-7C8C5CE9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10 딥링크 / WebMCP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18EEF539-C9BC-48EC-B3A5-23A4596C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직접 해보기 · 8분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291356-1B93-43F7-B416-EC517B9A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실습 10. WebMCP 없는 사이트와 비교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6E58421-4F53-450F-82C8-9602C7D6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D19FD189-3288-4A8D-8810-2EEDFA86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17E47B5-CAB9-4F4D-9898-BAA90065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F43DB7-D777-4518-B59E-7EF42E6E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16</a:t>
            </a:r>
          </a:p>
        </p:txBody>
      </p:sp>
      <p:sp>
        <p:nvSpPr>
          <p:cNvPr id="8" name="lab-minutes">
            <a:extLst xmlns:a="http://schemas.openxmlformats.org/drawingml/2006/main">
              <a:ext uri="{FF2B5EF4-FFF2-40B4-BE49-F238E27FC236}">
                <a16:creationId xmlns:a16="http://schemas.microsoft.com/office/drawing/2014/main" id="{457C2C9E-A078-48DC-BD78-CA361B0F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20478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8</a:t>
            </a:r>
          </a:p>
        </p:txBody>
      </p:sp>
      <p:sp>
        <p:nvSpPr>
          <p:cNvPr id="9" name="lab-label">
            <a:extLst xmlns:a="http://schemas.openxmlformats.org/drawingml/2006/main">
              <a:ext uri="{FF2B5EF4-FFF2-40B4-BE49-F238E27FC236}">
                <a16:creationId xmlns:a16="http://schemas.microsoft.com/office/drawing/2014/main" id="{0B97DFFE-FC31-4D12-9AAF-637795CE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0425"/>
            <a:ext cx="2286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분 실습</a:t>
            </a:r>
          </a:p>
        </p:txBody>
      </p:sp>
      <p:sp>
        <p:nvSpPr>
          <p:cNvPr id="10" name="lab-goal">
            <a:extLst xmlns:a="http://schemas.openxmlformats.org/drawingml/2006/main">
              <a:ext uri="{FF2B5EF4-FFF2-40B4-BE49-F238E27FC236}">
                <a16:creationId xmlns:a16="http://schemas.microsoft.com/office/drawing/2014/main" id="{2B4AB188-9455-41F9-BB7F-D3B0C583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09775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같은 데이터의 화면 조회와 도구 조회를 비교합니다.</a:t>
            </a:r>
          </a:p>
        </p:txBody>
      </p:sp>
      <p:sp>
        <p:nvSpPr>
          <p:cNvPr id="11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73BB141A-B7E0-44BF-9746-938FF7C6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813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12" name="lab-step-0">
            <a:extLst xmlns:a="http://schemas.openxmlformats.org/drawingml/2006/main">
              <a:ext uri="{FF2B5EF4-FFF2-40B4-BE49-F238E27FC236}">
                <a16:creationId xmlns:a16="http://schemas.microsoft.com/office/drawing/2014/main" id="{881C6BB2-DEFC-4E2D-B06A-6EED46EF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81350"/>
            <a:ext cx="779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3분 · 데모 1A에서 월·부서를 선택하고 조회</a:t>
            </a:r>
          </a:p>
        </p:txBody>
      </p:sp>
      <p:sp>
        <p:nvSpPr>
          <p:cNvPr id="13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77CD9E92-D2C2-4B2E-801A-F6EC3409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243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4" name="lab-step-1">
            <a:extLst xmlns:a="http://schemas.openxmlformats.org/drawingml/2006/main">
              <a:ext uri="{FF2B5EF4-FFF2-40B4-BE49-F238E27FC236}">
                <a16:creationId xmlns:a16="http://schemas.microsoft.com/office/drawing/2014/main" id="{0E8CFD1A-28F8-4F96-91CE-DFB2B650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24300"/>
            <a:ext cx="779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3분 · 데모 1B에서 연결된 조회 도구 호출</a:t>
            </a:r>
          </a:p>
        </p:txBody>
      </p:sp>
      <p:sp>
        <p:nvSpPr>
          <p:cNvPr id="15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E88E528F-FD92-469F-AD5F-2AC896F7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672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DA62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DA624E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6" name="lab-step-2">
            <a:extLst xmlns:a="http://schemas.openxmlformats.org/drawingml/2006/main">
              <a:ext uri="{FF2B5EF4-FFF2-40B4-BE49-F238E27FC236}">
                <a16:creationId xmlns:a16="http://schemas.microsoft.com/office/drawing/2014/main" id="{74D5118C-9775-4BFC-A1D4-7638B75E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67250"/>
            <a:ext cx="779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2분 · 조건·합계·수행 방식 차이 확인</a:t>
            </a:r>
          </a:p>
        </p:txBody>
      </p:sp>
      <p:sp>
        <p:nvSpPr>
          <p:cNvPr id="17" name="completion-background">
            <a:extLst xmlns:a="http://schemas.openxmlformats.org/drawingml/2006/main">
              <a:ext uri="{FF2B5EF4-FFF2-40B4-BE49-F238E27FC236}">
                <a16:creationId xmlns:a16="http://schemas.microsoft.com/office/drawing/2014/main" id="{A1C413E9-DCF2-4726-823E-6DFA68FF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29275"/>
            <a:ext cx="111252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0">
            <a:noFill/>
          </a:ln>
        </p:spPr>
      </p:sp>
      <p:sp>
        <p:nvSpPr>
          <p:cNvPr id="18" name="completion">
            <a:extLst xmlns:a="http://schemas.openxmlformats.org/drawingml/2006/main">
              <a:ext uri="{FF2B5EF4-FFF2-40B4-BE49-F238E27FC236}">
                <a16:creationId xmlns:a16="http://schemas.microsoft.com/office/drawing/2014/main" id="{6D17EEA6-C873-48E7-8317-C3575C58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070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완료 기준  같은 결과 확인, 미지원은 구분</a:t>
            </a:r>
          </a:p>
        </p:txBody>
      </p:sp>
      <p:sp>
        <p:nvSpPr>
          <p:cNvPr id="20" name="top-accent">
            <a:extLst xmlns:a="http://schemas.openxmlformats.org/drawingml/2006/main">
              <a:ext uri="{FF2B5EF4-FFF2-40B4-BE49-F238E27FC236}">
                <a16:creationId xmlns:a16="http://schemas.microsoft.com/office/drawing/2014/main" id="{82525524-942D-49C1-B6B8-2D7BB149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ab8bccb54459f"/>
          <a:stretch xmlns:a="http://schemas.openxmlformats.org/drawingml/2006/main"/>
        </p:blipFill>
        <p:spPr>
          <a:xfrm xmlns:a="http://schemas.openxmlformats.org/drawingml/2006/main">
            <a:off x="533400" y="227751"/>
            <a:ext cx="381000" cy="344599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7484b0f1c4f11"/>
          <a:stretch xmlns:a="http://schemas.openxmlformats.org/drawingml/2006/main"/>
        </p:blipFill>
        <p:spPr>
          <a:xfrm xmlns:a="http://schemas.openxmlformats.org/drawingml/2006/main">
            <a:off x="819150" y="4183477"/>
            <a:ext cx="1238250" cy="1119946"/>
          </a:xfrm>
          <a:prstGeom xmlns:a="http://schemas.openxmlformats.org/drawingml/2006/main" prst="rect">
            <a:avLst/>
          </a:prstGeom>
        </p:spPr>
      </p:pic>
      <p:sp>
        <p:nvSpPr>
          <p:cNvPr id="23" name="prompt-reference">
            <a:extLst xmlns:a="http://schemas.openxmlformats.org/drawingml/2006/main">
              <a:ext uri="{FF2B5EF4-FFF2-40B4-BE49-F238E27FC236}">
                <a16:creationId xmlns:a16="http://schemas.microsoft.com/office/drawing/2014/main" id="{F2E82896-7C08-4E57-BF89-5CD749C1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47825"/>
            <a:ext cx="1112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상세 원문  P19 29쪽</a:t>
            </a:r>
          </a:p>
        </p:txBody>
      </p:sp>
    </p:spTree>
    <p:extLst>
      <p:ext uri="{BB962C8B-B14F-4D97-AF65-F5344CB8AC3E}">
        <p14:creationId xmlns:p14="http://schemas.microsoft.com/office/powerpoint/2010/main" val="2854445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4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6323D7DE-79E1-45E5-B8A7-5D54CC36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857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10 딥링크 / WebMCP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504EED2C-B550-456E-A98C-321FD27E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rPr>
              <a:t>Q&amp;A · 3분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8F60FF-0789-4D5C-9D65-7BD53DA0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질문하고, 함께 확인합니다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5DA96032-EE37-4A14-A521-6602D4C9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8B6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BCFBD70-3694-429E-9F54-B35B36DA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36A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9C76374-59B8-4DBC-8865-29A815E4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FCA8EE1-750C-470D-A4A3-00A74424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rPr>
              <a:t>17</a:t>
            </a:r>
          </a:p>
        </p:txBody>
      </p:sp>
      <p:sp>
        <p:nvSpPr>
          <p:cNvPr id="8" name="qa-minutes">
            <a:extLst xmlns:a="http://schemas.openxmlformats.org/drawingml/2006/main">
              <a:ext uri="{FF2B5EF4-FFF2-40B4-BE49-F238E27FC236}">
                <a16:creationId xmlns:a16="http://schemas.microsoft.com/office/drawing/2014/main" id="{0CAA83D1-976F-48DD-8D67-8692EF73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22288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34D3B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700" b="1">
                <a:solidFill>
                  <a:srgbClr val="34D3BF"/>
                </a:solidFill>
                <a:latin typeface="Noto Sans CJK KR"/>
                <a:ea typeface="Noto Sans CJK KR"/>
                <a:cs typeface="Noto Sans CJK KR"/>
              </a:rPr>
              <a:t>3분</a:t>
            </a:r>
          </a:p>
        </p:txBody>
      </p:sp>
      <p:sp>
        <p:nvSpPr>
          <p:cNvPr id="9" name="qa-label">
            <a:extLst xmlns:a="http://schemas.openxmlformats.org/drawingml/2006/main">
              <a:ext uri="{FF2B5EF4-FFF2-40B4-BE49-F238E27FC236}">
                <a16:creationId xmlns:a16="http://schemas.microsoft.com/office/drawing/2014/main" id="{48C86244-8F26-4E71-BD41-B6F66600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95625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함께 확인</a:t>
            </a:r>
          </a:p>
        </p:txBody>
      </p:sp>
      <p:sp>
        <p:nvSpPr>
          <p:cNvPr id="10" name="question-number-0">
            <a:extLst xmlns:a="http://schemas.openxmlformats.org/drawingml/2006/main">
              <a:ext uri="{FF2B5EF4-FFF2-40B4-BE49-F238E27FC236}">
                <a16:creationId xmlns:a16="http://schemas.microsoft.com/office/drawing/2014/main" id="{D7EBB61E-7CEC-4FA8-A162-3CB028B4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383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66A1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66A1FF"/>
                </a:solidFill>
                <a:latin typeface="Noto Sans CJK KR"/>
                <a:ea typeface="Noto Sans CJK KR"/>
                <a:cs typeface="Noto Sans CJK KR"/>
              </a:rPr>
              <a:t>Q1</a:t>
            </a:r>
          </a:p>
        </p:txBody>
      </p:sp>
      <p:sp>
        <p:nvSpPr>
          <p:cNvPr id="11" name="question-0">
            <a:extLst xmlns:a="http://schemas.openxmlformats.org/drawingml/2006/main">
              <a:ext uri="{FF2B5EF4-FFF2-40B4-BE49-F238E27FC236}">
                <a16:creationId xmlns:a16="http://schemas.microsoft.com/office/drawing/2014/main" id="{9D6249C9-2621-4587-AA2E-43BA1C94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73437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링크가 열리면 업무도 끝난 것인가요?</a:t>
            </a:r>
          </a:p>
        </p:txBody>
      </p:sp>
      <p:sp>
        <p:nvSpPr>
          <p:cNvPr id="12" name="question-number-1">
            <a:extLst xmlns:a="http://schemas.openxmlformats.org/drawingml/2006/main">
              <a:ext uri="{FF2B5EF4-FFF2-40B4-BE49-F238E27FC236}">
                <a16:creationId xmlns:a16="http://schemas.microsoft.com/office/drawing/2014/main" id="{797CCA22-FAAE-4637-A150-BE2EC798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385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AB9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FFAB99"/>
                </a:solidFill>
                <a:latin typeface="Noto Sans CJK KR"/>
                <a:ea typeface="Noto Sans CJK KR"/>
                <a:cs typeface="Noto Sans CJK KR"/>
              </a:rPr>
              <a:t>Q2</a:t>
            </a:r>
          </a:p>
        </p:txBody>
      </p:sp>
      <p:sp>
        <p:nvSpPr>
          <p:cNvPr id="13" name="question-1">
            <a:extLst xmlns:a="http://schemas.openxmlformats.org/drawingml/2006/main">
              <a:ext uri="{FF2B5EF4-FFF2-40B4-BE49-F238E27FC236}">
                <a16:creationId xmlns:a16="http://schemas.microsoft.com/office/drawing/2014/main" id="{0E31F9A5-1719-42CC-955C-0ED0591E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38500"/>
            <a:ext cx="73437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WebMCP는 모든 사이트에서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바로 사용할 수 있나요?</a:t>
            </a:r>
          </a:p>
        </p:txBody>
      </p:sp>
      <p:sp>
        <p:nvSpPr>
          <p:cNvPr id="14" name="qa-check">
            <a:extLst xmlns:a="http://schemas.openxmlformats.org/drawingml/2006/main">
              <a:ext uri="{FF2B5EF4-FFF2-40B4-BE49-F238E27FC236}">
                <a16:creationId xmlns:a16="http://schemas.microsoft.com/office/drawing/2014/main" id="{1B77767D-F80C-45A6-B401-B4F9485E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8BE2D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8BE2D6"/>
                </a:solidFill>
                <a:latin typeface="Noto Sans CJK KR"/>
                <a:ea typeface="Noto Sans CJK KR"/>
                <a:cs typeface="Noto Sans CJK KR"/>
              </a:rPr>
              <a:t>바로 이동과 기능 실행의 차이를 설명해 보세요</a:t>
            </a:r>
          </a:p>
        </p:txBody>
      </p:sp>
      <p:sp>
        <p:nvSpPr>
          <p:cNvPr id="16" name="top-accent">
            <a:extLst xmlns:a="http://schemas.openxmlformats.org/drawingml/2006/main">
              <a:ext uri="{FF2B5EF4-FFF2-40B4-BE49-F238E27FC236}">
                <a16:creationId xmlns:a16="http://schemas.microsoft.com/office/drawing/2014/main" id="{481AC19B-DF95-41D5-9F67-9952B7F0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702033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reak-time">
            <a:extLst xmlns:a="http://schemas.openxmlformats.org/drawingml/2006/main">
              <a:ext uri="{FF2B5EF4-FFF2-40B4-BE49-F238E27FC236}">
                <a16:creationId xmlns:a16="http://schemas.microsoft.com/office/drawing/2014/main" id="{41B60845-4BCC-4D32-9A63-A8FCA5D3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15:40–15:50 · 10분</a:t>
            </a:r>
          </a:p>
        </p:txBody>
      </p:sp>
      <p:sp>
        <p:nvSpPr>
          <p:cNvPr id="2" name="break-title">
            <a:extLst xmlns:a="http://schemas.openxmlformats.org/drawingml/2006/main">
              <a:ext uri="{FF2B5EF4-FFF2-40B4-BE49-F238E27FC236}">
                <a16:creationId xmlns:a16="http://schemas.microsoft.com/office/drawing/2014/main" id="{A395B9C8-768D-4A2C-8E20-A70E7141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1125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60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잠시 쉬어 갑니다</a:t>
            </a:r>
          </a:p>
        </p:txBody>
      </p:sp>
      <p:sp>
        <p:nvSpPr>
          <p:cNvPr id="3" name="next-topic">
            <a:extLst xmlns:a="http://schemas.openxmlformats.org/drawingml/2006/main">
              <a:ext uri="{FF2B5EF4-FFF2-40B4-BE49-F238E27FC236}">
                <a16:creationId xmlns:a16="http://schemas.microsoft.com/office/drawing/2014/main" id="{FEA4CBDE-CA68-492D-8EB9-EEAB7E18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57675"/>
            <a:ext cx="1112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15:50  내가 한 작업을 기록하고 다시 실행하기</a:t>
            </a:r>
          </a:p>
        </p:txBody>
      </p:sp>
      <p:sp>
        <p:nvSpPr>
          <p:cNvPr id="4" name="break-tip">
            <a:extLst xmlns:a="http://schemas.openxmlformats.org/drawingml/2006/main">
              <a:ext uri="{FF2B5EF4-FFF2-40B4-BE49-F238E27FC236}">
                <a16:creationId xmlns:a16="http://schemas.microsoft.com/office/drawing/2014/main" id="{EDAAE79A-BB7A-4FDA-9C9B-F7975CEA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7217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실습 자료는 저장하고 돌아오세요.</a:t>
            </a:r>
          </a:p>
        </p:txBody>
      </p:sp>
      <p:sp>
        <p:nvSpPr>
          <p:cNvPr id="6" name="top-accent">
            <a:extLst xmlns:a="http://schemas.openxmlformats.org/drawingml/2006/main">
              <a:ext uri="{FF2B5EF4-FFF2-40B4-BE49-F238E27FC236}">
                <a16:creationId xmlns:a16="http://schemas.microsoft.com/office/drawing/2014/main" id="{BE73F2CC-4F7B-403B-9D35-149165C4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055226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2EF163F3-AE49-4956-A352-E9CC6FD3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11 Replay+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F79ADAD9-C943-44A2-A82E-CD97F184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15:50–16:25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BB5C62-03C5-404C-9C5A-5A97A9FC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Replay+는 반복하는 절차를 다시 씁니다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0EF66145-400A-43CE-8D09-E2DDE6E9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79B15506-50A4-46CB-AE20-BBE35799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3D22A74-5AA7-48EE-B665-C5AE964C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B9EAFC-27AB-4E41-91EA-7F87FD4B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19</a:t>
            </a:r>
          </a:p>
        </p:txBody>
      </p:sp>
      <p:sp>
        <p:nvSpPr>
          <p:cNvPr id="8" name="statement">
            <a:extLst xmlns:a="http://schemas.openxmlformats.org/drawingml/2006/main">
              <a:ext uri="{FF2B5EF4-FFF2-40B4-BE49-F238E27FC236}">
                <a16:creationId xmlns:a16="http://schemas.microsoft.com/office/drawing/2014/main" id="{DCCFFB8D-4F0D-425E-B3D1-12B374A3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6667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7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기록한 절차에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7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내 업무 방식을 더합니다.</a:t>
            </a:r>
          </a:p>
        </p:txBody>
      </p:sp>
      <p:sp>
        <p:nvSpPr>
          <p:cNvPr id="9" name="statement-body">
            <a:extLst xmlns:a="http://schemas.openxmlformats.org/drawingml/2006/main">
              <a:ext uri="{FF2B5EF4-FFF2-40B4-BE49-F238E27FC236}">
                <a16:creationId xmlns:a16="http://schemas.microsoft.com/office/drawing/2014/main" id="{6397BCA6-0FB5-4A04-80C3-D7E4D4AA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6667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RPA처럼 절차를 다시 실행합니다.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요약·말투 등 자연어 지침도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함께 활용합니다.</a:t>
            </a:r>
          </a:p>
        </p:txBody>
      </p:sp>
      <p:sp>
        <p:nvSpPr>
          <p:cNvPr id="11" name="top-accent">
            <a:extLst xmlns:a="http://schemas.openxmlformats.org/drawingml/2006/main">
              <a:ext uri="{FF2B5EF4-FFF2-40B4-BE49-F238E27FC236}">
                <a16:creationId xmlns:a16="http://schemas.microsoft.com/office/drawing/2014/main" id="{F50562D5-FF16-4FE9-921F-2CA656C9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f769d2dae4699"/>
          <a:stretch xmlns:a="http://schemas.openxmlformats.org/drawingml/2006/main"/>
        </p:blipFill>
        <p:spPr>
          <a:xfrm xmlns:a="http://schemas.openxmlformats.org/drawingml/2006/main">
            <a:off x="533400" y="227751"/>
            <a:ext cx="381000" cy="344599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229c90e1d41d3"/>
          <a:stretch xmlns:a="http://schemas.openxmlformats.org/drawingml/2006/main"/>
        </p:blipFill>
        <p:spPr>
          <a:xfrm xmlns:a="http://schemas.openxmlformats.org/drawingml/2006/main">
            <a:off x="7500938" y="1962150"/>
            <a:ext cx="3924300" cy="3924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3471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9B37D7-A46F-428D-A369-ECC5125E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조회와 다운로드 과정을 기록합니다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A3C913D2-54B2-494F-B0EC-7E61B7F1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8307331-235B-4A73-8431-6AFFE51D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7A64A55-E886-48C8-8FEC-6BB85190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11 Replay+  |  P20 30쪽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6716475-DC53-4CA6-8C70-389EB156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20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943cb3bce4a6a"/>
          <a:stretch xmlns:a="http://schemas.openxmlformats.org/drawingml/2006/main"/>
        </p:blipFill>
        <p:spPr>
          <a:xfrm xmlns:a="http://schemas.openxmlformats.org/drawingml/2006/main">
            <a:off x="1297951" y="990600"/>
            <a:ext cx="9596098" cy="5400675"/>
          </a:xfrm>
          <a:prstGeom xmlns:a="http://schemas.openxmlformats.org/drawingml/2006/main" prst="rect">
            <a:avLst/>
          </a:prstGeom>
        </p:spPr>
      </p:pic>
      <p:sp>
        <p:nvSpPr>
          <p:cNvPr id="9" name="top-accent">
            <a:extLst xmlns:a="http://schemas.openxmlformats.org/drawingml/2006/main">
              <a:ext uri="{FF2B5EF4-FFF2-40B4-BE49-F238E27FC236}">
                <a16:creationId xmlns:a16="http://schemas.microsoft.com/office/drawing/2014/main" id="{78C1B826-B6B6-4189-A104-AA93A985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860026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">
            <a:extLst xmlns:a="http://schemas.openxmlformats.org/drawingml/2006/main">
              <a:ext uri="{FF2B5EF4-FFF2-40B4-BE49-F238E27FC236}">
                <a16:creationId xmlns:a16="http://schemas.microsoft.com/office/drawing/2014/main" id="{6FAE7EC2-9DAC-4C39-A99B-0515F1F1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11 Replay+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A081825B-EA03-4791-86A3-E850B71C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15:50–16:25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572A1B-E016-4F53-B24A-FD812F43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성공한 다운로드 절차를 스킬로 저장합니다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7614DF78-2C73-4445-88E9-60386DAC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4933CFD-5BE2-40D2-8552-902D7EA1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A6BAB1E-BE7B-4974-991B-342CE0F5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CBD0D14-EB14-45E5-A23D-C4E8BD1D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21</a:t>
            </a:r>
          </a:p>
        </p:txBody>
      </p:sp>
      <p:sp>
        <p:nvSpPr>
          <p:cNvPr id="8" name="item-number-0">
            <a:extLst xmlns:a="http://schemas.openxmlformats.org/drawingml/2006/main">
              <a:ext uri="{FF2B5EF4-FFF2-40B4-BE49-F238E27FC236}">
                <a16:creationId xmlns:a16="http://schemas.microsoft.com/office/drawing/2014/main" id="{0B36AAD2-DC3F-4D6F-9D2E-D73D9110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9" name="item-title-0">
            <a:extLst xmlns:a="http://schemas.openxmlformats.org/drawingml/2006/main">
              <a:ext uri="{FF2B5EF4-FFF2-40B4-BE49-F238E27FC236}">
                <a16:creationId xmlns:a16="http://schemas.microsoft.com/office/drawing/2014/main" id="{2EDB4AA2-48E6-47E7-93EE-1FA10671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288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달라지는 입력</a:t>
            </a:r>
          </a:p>
        </p:txBody>
      </p:sp>
      <p:sp>
        <p:nvSpPr>
          <p:cNvPr id="10" name="item-body-0">
            <a:extLst xmlns:a="http://schemas.openxmlformats.org/drawingml/2006/main">
              <a:ext uri="{FF2B5EF4-FFF2-40B4-BE49-F238E27FC236}">
                <a16:creationId xmlns:a16="http://schemas.microsoft.com/office/drawing/2014/main" id="{258CF242-ACEB-4647-960A-5D38ED35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조회 월·부서·저장 폴더를 입력으로 분리</a:t>
            </a:r>
          </a:p>
        </p:txBody>
      </p:sp>
      <p:sp>
        <p:nvSpPr>
          <p:cNvPr id="11" name="item-number-1">
            <a:extLst xmlns:a="http://schemas.openxmlformats.org/drawingml/2006/main">
              <a:ext uri="{FF2B5EF4-FFF2-40B4-BE49-F238E27FC236}">
                <a16:creationId xmlns:a16="http://schemas.microsoft.com/office/drawing/2014/main" id="{8C29F301-4F25-4DED-9CDA-A59A76B3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2" name="item-title-1">
            <a:extLst xmlns:a="http://schemas.openxmlformats.org/drawingml/2006/main">
              <a:ext uri="{FF2B5EF4-FFF2-40B4-BE49-F238E27FC236}">
                <a16:creationId xmlns:a16="http://schemas.microsoft.com/office/drawing/2014/main" id="{05435037-D25D-4A7C-81ED-52F84A36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099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기록과 지침 연결</a:t>
            </a:r>
          </a:p>
        </p:txBody>
      </p:sp>
      <p:sp>
        <p:nvSpPr>
          <p:cNvPr id="13" name="item-body-1">
            <a:extLst xmlns:a="http://schemas.openxmlformats.org/drawingml/2006/main">
              <a:ext uri="{FF2B5EF4-FFF2-40B4-BE49-F238E27FC236}">
                <a16:creationId xmlns:a16="http://schemas.microsoft.com/office/drawing/2014/main" id="{BC421C9E-7A91-4B63-97AD-5B0E71E1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Replay+ 기록과 파일 확인 방법을 함께 저장</a:t>
            </a:r>
          </a:p>
        </p:txBody>
      </p:sp>
      <p:sp>
        <p:nvSpPr>
          <p:cNvPr id="14" name="item-number-2">
            <a:extLst xmlns:a="http://schemas.openxmlformats.org/drawingml/2006/main">
              <a:ext uri="{FF2B5EF4-FFF2-40B4-BE49-F238E27FC236}">
                <a16:creationId xmlns:a16="http://schemas.microsoft.com/office/drawing/2014/main" id="{139EADFE-9051-4B20-B104-3C5B7DC0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863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5" name="item-title-2">
            <a:extLst xmlns:a="http://schemas.openxmlformats.org/drawingml/2006/main">
              <a:ext uri="{FF2B5EF4-FFF2-40B4-BE49-F238E27FC236}">
                <a16:creationId xmlns:a16="http://schemas.microsoft.com/office/drawing/2014/main" id="{A382DDD7-DC06-4467-AE3C-7C4448EA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910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다른 조건으로 검증</a:t>
            </a:r>
          </a:p>
        </p:txBody>
      </p:sp>
      <p:sp>
        <p:nvSpPr>
          <p:cNvPr id="16" name="item-body-2">
            <a:extLst xmlns:a="http://schemas.openxmlformats.org/drawingml/2006/main">
              <a:ext uri="{FF2B5EF4-FFF2-40B4-BE49-F238E27FC236}">
                <a16:creationId xmlns:a16="http://schemas.microsoft.com/office/drawing/2014/main" id="{C92A1C2E-3EDA-48DC-8F20-8207B887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863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2026-10 · 인사로 재실행한 파일을 열어 확인</a:t>
            </a:r>
          </a:p>
        </p:txBody>
      </p:sp>
      <p:sp>
        <p:nvSpPr>
          <p:cNvPr id="18" name="top-accent">
            <a:extLst xmlns:a="http://schemas.openxmlformats.org/drawingml/2006/main">
              <a:ext uri="{FF2B5EF4-FFF2-40B4-BE49-F238E27FC236}">
                <a16:creationId xmlns:a16="http://schemas.microsoft.com/office/drawing/2014/main" id="{2A569237-A19D-4160-A7A6-81F635B9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3a2b6efe84d53"/>
          <a:stretch xmlns:a="http://schemas.openxmlformats.org/drawingml/2006/main"/>
        </p:blipFill>
        <p:spPr>
          <a:xfrm xmlns:a="http://schemas.openxmlformats.org/drawingml/2006/main">
            <a:off x="533400" y="227751"/>
            <a:ext cx="381000" cy="344599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6fc48db4149b7"/>
          <a:stretch xmlns:a="http://schemas.openxmlformats.org/drawingml/2006/main"/>
        </p:blipFill>
        <p:spPr>
          <a:xfrm xmlns:a="http://schemas.openxmlformats.org/drawingml/2006/main">
            <a:off x="533400" y="2028825"/>
            <a:ext cx="647700" cy="647700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bfbe3f5f04783"/>
          <a:stretch xmlns:a="http://schemas.openxmlformats.org/drawingml/2006/main"/>
        </p:blipFill>
        <p:spPr>
          <a:xfrm xmlns:a="http://schemas.openxmlformats.org/drawingml/2006/main">
            <a:off x="560781" y="3209925"/>
            <a:ext cx="592938" cy="647700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f79c918724c6c"/>
          <a:stretch xmlns:a="http://schemas.openxmlformats.org/drawingml/2006/main"/>
        </p:blipFill>
        <p:spPr>
          <a:xfrm xmlns:a="http://schemas.openxmlformats.org/drawingml/2006/main">
            <a:off x="533400" y="4421966"/>
            <a:ext cx="647700" cy="585818"/>
          </a:xfrm>
          <a:prstGeom xmlns:a="http://schemas.openxmlformats.org/drawingml/2006/main" prst="rect">
            <a:avLst/>
          </a:prstGeom>
        </p:spPr>
      </p:pic>
      <p:sp>
        <p:nvSpPr>
          <p:cNvPr id="23" name="prompt-reference">
            <a:extLst xmlns:a="http://schemas.openxmlformats.org/drawingml/2006/main">
              <a:ext uri="{FF2B5EF4-FFF2-40B4-BE49-F238E27FC236}">
                <a16:creationId xmlns:a16="http://schemas.microsoft.com/office/drawing/2014/main" id="{70704E1E-7521-46AB-B886-CEFAFB20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47825"/>
            <a:ext cx="1112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상세 원문  P20 30쪽 · P21 31쪽</a:t>
            </a:r>
          </a:p>
        </p:txBody>
      </p:sp>
    </p:spTree>
    <p:extLst>
      <p:ext uri="{BB962C8B-B14F-4D97-AF65-F5344CB8AC3E}">
        <p14:creationId xmlns:p14="http://schemas.microsoft.com/office/powerpoint/2010/main" val="15036745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DA6FEE-1005-4117-83D4-37165D36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실습 11 화면 · 다시 쓸 절차와 지침을 저장합니다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EF86E2F5-6E2C-48F1-A4F8-99E63EC4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4B51DC0-BAFD-488A-B675-66F84E7F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2389621-1F67-4960-BB79-C7D338AD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11 Replay+  |  P20 30쪽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8FC6F02-A229-4C00-B2F9-763E185A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22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52fc7e351d42be"/>
          <a:stretch xmlns:a="http://schemas.openxmlformats.org/drawingml/2006/main"/>
        </p:blipFill>
        <p:spPr>
          <a:xfrm xmlns:a="http://schemas.openxmlformats.org/drawingml/2006/main">
            <a:off x="1714500" y="1076325"/>
            <a:ext cx="8763000" cy="4933950"/>
          </a:xfrm>
          <a:prstGeom xmlns:a="http://schemas.openxmlformats.org/drawingml/2006/main" prst="rect">
            <a:avLst/>
          </a:prstGeom>
        </p:spPr>
      </p:pic>
      <p:sp>
        <p:nvSpPr>
          <p:cNvPr id="9" name="top-accent">
            <a:extLst xmlns:a="http://schemas.openxmlformats.org/drawingml/2006/main">
              <a:ext uri="{FF2B5EF4-FFF2-40B4-BE49-F238E27FC236}">
                <a16:creationId xmlns:a16="http://schemas.microsoft.com/office/drawing/2014/main" id="{B8811331-F5CB-4A32-A0A5-800713DC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11" name="screen-checks">
            <a:extLst xmlns:a="http://schemas.openxmlformats.org/drawingml/2006/main">
              <a:ext uri="{FF2B5EF4-FFF2-40B4-BE49-F238E27FC236}">
                <a16:creationId xmlns:a16="http://schemas.microsoft.com/office/drawing/2014/main" id="{01B5C1EB-01C1-4B25-B97F-BA166AEC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① 기록한 단계   ② 매번 바뀌는 입력값   ③ 자연어 업무 지침</a:t>
            </a:r>
          </a:p>
        </p:txBody>
      </p:sp>
    </p:spTree>
    <p:extLst>
      <p:ext uri="{BB962C8B-B14F-4D97-AF65-F5344CB8AC3E}">
        <p14:creationId xmlns:p14="http://schemas.microsoft.com/office/powerpoint/2010/main" val="170156900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DA6FEE-1005-4117-83D4-37165D36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실습 11 화면 · 데모에서 Excel을 내려받습니다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EF86E2F5-6E2C-48F1-A4F8-99E63EC4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4B51DC0-BAFD-488A-B675-66F84E7F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2389621-1F67-4960-BB79-C7D338AD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11 Replay+  |  P21 31쪽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8FC6F02-A229-4C00-B2F9-763E185A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23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463efeb664917"/>
          <a:stretch xmlns:a="http://schemas.openxmlformats.org/drawingml/2006/main"/>
        </p:blipFill>
        <p:spPr>
          <a:xfrm xmlns:a="http://schemas.openxmlformats.org/drawingml/2006/main">
            <a:off x="1714500" y="1076325"/>
            <a:ext cx="8763000" cy="4933950"/>
          </a:xfrm>
          <a:prstGeom xmlns:a="http://schemas.openxmlformats.org/drawingml/2006/main" prst="rect">
            <a:avLst/>
          </a:prstGeom>
        </p:spPr>
      </p:pic>
      <p:sp>
        <p:nvSpPr>
          <p:cNvPr id="9" name="top-accent">
            <a:extLst xmlns:a="http://schemas.openxmlformats.org/drawingml/2006/main">
              <a:ext uri="{FF2B5EF4-FFF2-40B4-BE49-F238E27FC236}">
                <a16:creationId xmlns:a16="http://schemas.microsoft.com/office/drawing/2014/main" id="{B8811331-F5CB-4A32-A0A5-800713DC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11" name="screen-checks">
            <a:extLst xmlns:a="http://schemas.openxmlformats.org/drawingml/2006/main">
              <a:ext uri="{FF2B5EF4-FFF2-40B4-BE49-F238E27FC236}">
                <a16:creationId xmlns:a16="http://schemas.microsoft.com/office/drawing/2014/main" id="{F36BA8B8-75F4-46FF-987B-136C151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① 월·부서 선택   ② 다운로드 확인   ③ 파일 열기</a:t>
            </a:r>
          </a:p>
        </p:txBody>
      </p:sp>
    </p:spTree>
    <p:extLst>
      <p:ext uri="{BB962C8B-B14F-4D97-AF65-F5344CB8AC3E}">
        <p14:creationId xmlns:p14="http://schemas.microsoft.com/office/powerpoint/2010/main" val="170156900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">
            <a:extLst xmlns:a="http://schemas.openxmlformats.org/drawingml/2006/main">
              <a:ext uri="{FF2B5EF4-FFF2-40B4-BE49-F238E27FC236}">
                <a16:creationId xmlns:a16="http://schemas.microsoft.com/office/drawing/2014/main" id="{151CF507-D26C-4F64-93E2-F35B9793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11 Replay+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0CCB4CBE-4D60-418F-BDAE-BD50B158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직접 해보기 · 20분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B0AEE6-0B43-4457-BCD6-CA0B7306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실습 11. 다운로드를 기록하고 스킬로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5CC63FB0-9781-4396-8803-E985C9A5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90B8953-A0BF-4F59-B722-4DDAEE80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F49D628-7E5C-47B4-836A-DA396131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6573EE1-AAF1-4E03-9437-99562F99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24</a:t>
            </a:r>
          </a:p>
        </p:txBody>
      </p:sp>
      <p:sp>
        <p:nvSpPr>
          <p:cNvPr id="8" name="lab-minutes">
            <a:extLst xmlns:a="http://schemas.openxmlformats.org/drawingml/2006/main">
              <a:ext uri="{FF2B5EF4-FFF2-40B4-BE49-F238E27FC236}">
                <a16:creationId xmlns:a16="http://schemas.microsoft.com/office/drawing/2014/main" id="{C483841D-2863-4CB8-9090-56DDD436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20478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20</a:t>
            </a:r>
          </a:p>
        </p:txBody>
      </p:sp>
      <p:sp>
        <p:nvSpPr>
          <p:cNvPr id="9" name="lab-label">
            <a:extLst xmlns:a="http://schemas.openxmlformats.org/drawingml/2006/main">
              <a:ext uri="{FF2B5EF4-FFF2-40B4-BE49-F238E27FC236}">
                <a16:creationId xmlns:a16="http://schemas.microsoft.com/office/drawing/2014/main" id="{831C4AFD-0117-4040-B0D9-DB9287B8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0425"/>
            <a:ext cx="2286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분 실습</a:t>
            </a:r>
          </a:p>
        </p:txBody>
      </p:sp>
      <p:sp>
        <p:nvSpPr>
          <p:cNvPr id="10" name="lab-goal">
            <a:extLst xmlns:a="http://schemas.openxmlformats.org/drawingml/2006/main">
              <a:ext uri="{FF2B5EF4-FFF2-40B4-BE49-F238E27FC236}">
                <a16:creationId xmlns:a16="http://schemas.microsoft.com/office/drawing/2014/main" id="{24DBC799-7090-4992-981C-9A4828E2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09775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다운로드 1회를 성공시키고 재사용합니다.</a:t>
            </a:r>
          </a:p>
        </p:txBody>
      </p:sp>
      <p:sp>
        <p:nvSpPr>
          <p:cNvPr id="11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B27E8B79-731E-4003-9A08-98F1BA78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813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12" name="lab-step-0">
            <a:extLst xmlns:a="http://schemas.openxmlformats.org/drawingml/2006/main">
              <a:ext uri="{FF2B5EF4-FFF2-40B4-BE49-F238E27FC236}">
                <a16:creationId xmlns:a16="http://schemas.microsoft.com/office/drawing/2014/main" id="{B95E0D6D-92AC-411C-ACFE-15BEF67B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81350"/>
            <a:ext cx="779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7분 · 데모 조회·다운로드 기록, 실제 파일 열기</a:t>
            </a:r>
          </a:p>
        </p:txBody>
      </p:sp>
      <p:sp>
        <p:nvSpPr>
          <p:cNvPr id="13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BB3BBBD4-708E-43DA-87F0-A46B6A1A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243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4" name="lab-step-1">
            <a:extLst xmlns:a="http://schemas.openxmlformats.org/drawingml/2006/main">
              <a:ext uri="{FF2B5EF4-FFF2-40B4-BE49-F238E27FC236}">
                <a16:creationId xmlns:a16="http://schemas.microsoft.com/office/drawing/2014/main" id="{5F2D27CA-0FA4-49CF-8CDC-E930C7EB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24300"/>
            <a:ext cx="779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8분 · 입력과 완료 기준을 스킬로 저장</a:t>
            </a:r>
          </a:p>
        </p:txBody>
      </p:sp>
      <p:sp>
        <p:nvSpPr>
          <p:cNvPr id="15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9AA41C29-DA4C-4581-8782-011AA143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672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DA62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DA624E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6" name="lab-step-2">
            <a:extLst xmlns:a="http://schemas.openxmlformats.org/drawingml/2006/main">
              <a:ext uri="{FF2B5EF4-FFF2-40B4-BE49-F238E27FC236}">
                <a16:creationId xmlns:a16="http://schemas.microsoft.com/office/drawing/2014/main" id="{18FCBB67-DD30-4608-BAB2-B4E51F58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67250"/>
            <a:ext cx="779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5분 · 다른 월·부서로 재실행한 파일 확인</a:t>
            </a:r>
          </a:p>
        </p:txBody>
      </p:sp>
      <p:sp>
        <p:nvSpPr>
          <p:cNvPr id="17" name="completion-background">
            <a:extLst xmlns:a="http://schemas.openxmlformats.org/drawingml/2006/main">
              <a:ext uri="{FF2B5EF4-FFF2-40B4-BE49-F238E27FC236}">
                <a16:creationId xmlns:a16="http://schemas.microsoft.com/office/drawing/2014/main" id="{6120521E-0F9F-43BC-AE90-8DAC2BDC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29275"/>
            <a:ext cx="111252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0">
            <a:noFill/>
          </a:ln>
        </p:spPr>
      </p:sp>
      <p:sp>
        <p:nvSpPr>
          <p:cNvPr id="18" name="completion">
            <a:extLst xmlns:a="http://schemas.openxmlformats.org/drawingml/2006/main">
              <a:ext uri="{FF2B5EF4-FFF2-40B4-BE49-F238E27FC236}">
                <a16:creationId xmlns:a16="http://schemas.microsoft.com/office/drawing/2014/main" id="{C2ECEE3F-7BE7-43AB-937E-6327A564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070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완료 기준  다운로드 파일 + 재사용 스킬 + 재실행</a:t>
            </a:r>
          </a:p>
        </p:txBody>
      </p:sp>
      <p:sp>
        <p:nvSpPr>
          <p:cNvPr id="20" name="top-accent">
            <a:extLst xmlns:a="http://schemas.openxmlformats.org/drawingml/2006/main">
              <a:ext uri="{FF2B5EF4-FFF2-40B4-BE49-F238E27FC236}">
                <a16:creationId xmlns:a16="http://schemas.microsoft.com/office/drawing/2014/main" id="{E2DAD2E9-1CC0-4295-A56C-50FD7158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fb65a018514de5"/>
          <a:stretch xmlns:a="http://schemas.openxmlformats.org/drawingml/2006/main"/>
        </p:blipFill>
        <p:spPr>
          <a:xfrm xmlns:a="http://schemas.openxmlformats.org/drawingml/2006/main">
            <a:off x="533400" y="227751"/>
            <a:ext cx="381000" cy="344599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d5bd905954974"/>
          <a:stretch xmlns:a="http://schemas.openxmlformats.org/drawingml/2006/main"/>
        </p:blipFill>
        <p:spPr>
          <a:xfrm xmlns:a="http://schemas.openxmlformats.org/drawingml/2006/main">
            <a:off x="819150" y="4183477"/>
            <a:ext cx="1238250" cy="1119946"/>
          </a:xfrm>
          <a:prstGeom xmlns:a="http://schemas.openxmlformats.org/drawingml/2006/main" prst="rect">
            <a:avLst/>
          </a:prstGeom>
        </p:spPr>
      </p:pic>
      <p:sp>
        <p:nvSpPr>
          <p:cNvPr id="23" name="prompt-reference">
            <a:extLst xmlns:a="http://schemas.openxmlformats.org/drawingml/2006/main">
              <a:ext uri="{FF2B5EF4-FFF2-40B4-BE49-F238E27FC236}">
                <a16:creationId xmlns:a16="http://schemas.microsoft.com/office/drawing/2014/main" id="{47B8B296-214E-46C3-B136-CADF9276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47825"/>
            <a:ext cx="1112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상세 원문  P20 30쪽 · P21 31쪽</a:t>
            </a:r>
          </a:p>
        </p:txBody>
      </p:sp>
    </p:spTree>
    <p:extLst>
      <p:ext uri="{BB962C8B-B14F-4D97-AF65-F5344CB8AC3E}">
        <p14:creationId xmlns:p14="http://schemas.microsoft.com/office/powerpoint/2010/main" val="107095780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4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16E96839-F786-458F-8A52-5721379D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857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11 Replay+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6AA3FB10-BD6B-46D4-82C8-3C0C7FF5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rPr>
              <a:t>Q&amp;A · 5분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2E799D-D20D-49AD-B8D9-ECFB702E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질문하고, 함께 확인합니다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5E65FB6B-EE79-4E38-8FA9-06217866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8B6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5B3D1A6-92DB-4570-A882-5EACF800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36A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1414C48-D516-4FAE-BD1E-44782752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E3DF2DB-0943-4865-BFD6-FA59E787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ABC0D1"/>
                </a:solidFill>
                <a:latin typeface="Noto Sans CJK KR"/>
                <a:ea typeface="Noto Sans CJK KR"/>
                <a:cs typeface="Noto Sans CJK KR"/>
              </a:rPr>
              <a:t>25</a:t>
            </a:r>
          </a:p>
        </p:txBody>
      </p:sp>
      <p:sp>
        <p:nvSpPr>
          <p:cNvPr id="8" name="qa-minutes">
            <a:extLst xmlns:a="http://schemas.openxmlformats.org/drawingml/2006/main">
              <a:ext uri="{FF2B5EF4-FFF2-40B4-BE49-F238E27FC236}">
                <a16:creationId xmlns:a16="http://schemas.microsoft.com/office/drawing/2014/main" id="{ECD19B0C-1059-4477-BCD0-329B77C4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22288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34D3B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700" b="1">
                <a:solidFill>
                  <a:srgbClr val="34D3BF"/>
                </a:solidFill>
                <a:latin typeface="Noto Sans CJK KR"/>
                <a:ea typeface="Noto Sans CJK KR"/>
                <a:cs typeface="Noto Sans CJK KR"/>
              </a:rPr>
              <a:t>5분</a:t>
            </a:r>
          </a:p>
        </p:txBody>
      </p:sp>
      <p:sp>
        <p:nvSpPr>
          <p:cNvPr id="9" name="qa-label">
            <a:extLst xmlns:a="http://schemas.openxmlformats.org/drawingml/2006/main">
              <a:ext uri="{FF2B5EF4-FFF2-40B4-BE49-F238E27FC236}">
                <a16:creationId xmlns:a16="http://schemas.microsoft.com/office/drawing/2014/main" id="{176CA3FE-BFA5-44F3-8A92-2986E25F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95625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함께 확인</a:t>
            </a:r>
          </a:p>
        </p:txBody>
      </p:sp>
      <p:sp>
        <p:nvSpPr>
          <p:cNvPr id="10" name="question-number-0">
            <a:extLst xmlns:a="http://schemas.openxmlformats.org/drawingml/2006/main">
              <a:ext uri="{FF2B5EF4-FFF2-40B4-BE49-F238E27FC236}">
                <a16:creationId xmlns:a16="http://schemas.microsoft.com/office/drawing/2014/main" id="{B58A8E75-97C3-4D51-9F87-D48F137F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383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66A1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66A1FF"/>
                </a:solidFill>
                <a:latin typeface="Noto Sans CJK KR"/>
                <a:ea typeface="Noto Sans CJK KR"/>
                <a:cs typeface="Noto Sans CJK KR"/>
              </a:rPr>
              <a:t>Q1</a:t>
            </a:r>
          </a:p>
        </p:txBody>
      </p:sp>
      <p:sp>
        <p:nvSpPr>
          <p:cNvPr id="11" name="question-0">
            <a:extLst xmlns:a="http://schemas.openxmlformats.org/drawingml/2006/main">
              <a:ext uri="{FF2B5EF4-FFF2-40B4-BE49-F238E27FC236}">
                <a16:creationId xmlns:a16="http://schemas.microsoft.com/office/drawing/2014/main" id="{5B381765-B9A3-494C-A7D5-5C8D9E3D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73437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조회 월을 바꾸면 무엇을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다시 확인해야 하나요?</a:t>
            </a:r>
          </a:p>
        </p:txBody>
      </p:sp>
      <p:sp>
        <p:nvSpPr>
          <p:cNvPr id="12" name="question-number-1">
            <a:extLst xmlns:a="http://schemas.openxmlformats.org/drawingml/2006/main">
              <a:ext uri="{FF2B5EF4-FFF2-40B4-BE49-F238E27FC236}">
                <a16:creationId xmlns:a16="http://schemas.microsoft.com/office/drawing/2014/main" id="{2063CEAE-9C3D-4E57-8E58-5F61D79A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385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AB9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FFAB99"/>
                </a:solidFill>
                <a:latin typeface="Noto Sans CJK KR"/>
                <a:ea typeface="Noto Sans CJK KR"/>
                <a:cs typeface="Noto Sans CJK KR"/>
              </a:rPr>
              <a:t>Q2</a:t>
            </a:r>
          </a:p>
        </p:txBody>
      </p:sp>
      <p:sp>
        <p:nvSpPr>
          <p:cNvPr id="13" name="question-1">
            <a:extLst xmlns:a="http://schemas.openxmlformats.org/drawingml/2006/main">
              <a:ext uri="{FF2B5EF4-FFF2-40B4-BE49-F238E27FC236}">
                <a16:creationId xmlns:a16="http://schemas.microsoft.com/office/drawing/2014/main" id="{31C2FF98-6BE3-461B-8ECE-72B80CA4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38500"/>
            <a:ext cx="73437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재생이 멈추면 어디서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다시 시작할까요?</a:t>
            </a:r>
          </a:p>
        </p:txBody>
      </p:sp>
      <p:sp>
        <p:nvSpPr>
          <p:cNvPr id="14" name="qa-check">
            <a:extLst xmlns:a="http://schemas.openxmlformats.org/drawingml/2006/main">
              <a:ext uri="{FF2B5EF4-FFF2-40B4-BE49-F238E27FC236}">
                <a16:creationId xmlns:a16="http://schemas.microsoft.com/office/drawing/2014/main" id="{63E0CAC9-9BEA-4B80-AD94-C5D577A4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8BE2D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8BE2D6"/>
                </a:solidFill>
                <a:latin typeface="Noto Sans CJK KR"/>
                <a:ea typeface="Noto Sans CJK KR"/>
                <a:cs typeface="Noto Sans CJK KR"/>
              </a:rPr>
              <a:t>재실행 결과 파일을 직접 열면 완료</a:t>
            </a:r>
          </a:p>
        </p:txBody>
      </p:sp>
      <p:sp>
        <p:nvSpPr>
          <p:cNvPr id="16" name="top-accent">
            <a:extLst xmlns:a="http://schemas.openxmlformats.org/drawingml/2006/main">
              <a:ext uri="{FF2B5EF4-FFF2-40B4-BE49-F238E27FC236}">
                <a16:creationId xmlns:a16="http://schemas.microsoft.com/office/drawing/2014/main" id="{741E4DDE-C254-44E6-8267-91F35C80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014255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B26B9EC7-C021-4CEE-8E09-3737D687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부록 · 필요할 때 찾아보기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8778D95B-540C-4EF4-AAD2-E691A148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참고 자료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242C52-2896-49DF-AB09-E5DE0AAB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페이지 실습용 공지의 예시 원문입니다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FCED5E5E-9461-4575-AB57-C9B000F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6C2D441-8410-4884-A915-BCB9E6FD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200E348-2D71-45B7-9202-B3F3F50C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경영지원 임직원 교육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D07B899-8A1C-4844-BF2F-4D849D86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26</a:t>
            </a:r>
          </a:p>
        </p:txBody>
      </p:sp>
      <p:sp>
        <p:nvSpPr>
          <p:cNvPr id="8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5446AC6F-D465-4D95-BFB4-17D1E263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그대로 입력해 보세요</a:t>
            </a:r>
          </a:p>
        </p:txBody>
      </p:sp>
      <p:sp>
        <p:nvSpPr>
          <p:cNvPr id="9" name="prompt-background">
            <a:extLst xmlns:a="http://schemas.openxmlformats.org/drawingml/2006/main">
              <a:ext uri="{FF2B5EF4-FFF2-40B4-BE49-F238E27FC236}">
                <a16:creationId xmlns:a16="http://schemas.microsoft.com/office/drawing/2014/main" id="{CFE7968D-5469-4D28-BE86-0AC23E28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90775"/>
            <a:ext cx="11125200" cy="2809875"/>
          </a:xfrm>
          <a:prstGeom xmlns:a="http://schemas.openxmlformats.org/drawingml/2006/main" prst="roundRect">
            <a:avLst>
              <a:gd name="adj" fmla="val 4746"/>
            </a:avLst>
          </a:prstGeom>
          <a:solidFill xmlns:a="http://schemas.openxmlformats.org/drawingml/2006/main">
            <a:srgbClr val="EDF4FC"/>
          </a:solidFill>
          <a:ln xmlns:a="http://schemas.openxmlformats.org/drawingml/2006/main" w="0">
            <a:noFill/>
          </a:ln>
        </p:spPr>
      </p:sp>
      <p:sp>
        <p:nvSpPr>
          <p:cNvPr id="10" name="copyable-prompt">
            <a:extLst xmlns:a="http://schemas.openxmlformats.org/drawingml/2006/main">
              <a:ext uri="{FF2B5EF4-FFF2-40B4-BE49-F238E27FC236}">
                <a16:creationId xmlns:a16="http://schemas.microsoft.com/office/drawing/2014/main" id="{1FC7A73C-C8E5-4906-BBCE-057A916F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0591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교육 신청 안내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대상: 신입사원 60명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일시: 2026년 9월 18일 14:00–17:00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접수 마감: 2026년 9월 11일 17:00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준비물: 노트북  /  장소: 교육장 A</a:t>
            </a:r>
          </a:p>
        </p:txBody>
      </p:sp>
      <p:sp>
        <p:nvSpPr>
          <p:cNvPr id="11" name="expected-result">
            <a:extLst xmlns:a="http://schemas.openxmlformats.org/drawingml/2006/main">
              <a:ext uri="{FF2B5EF4-FFF2-40B4-BE49-F238E27FC236}">
                <a16:creationId xmlns:a16="http://schemas.microsoft.com/office/drawing/2014/main" id="{7221E701-98D3-403A-A803-1BF0F779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76875"/>
            <a:ext cx="11125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결과 확인  참가비·취소 방법은 원문에 없음</a:t>
            </a:r>
          </a:p>
        </p:txBody>
      </p:sp>
      <p:sp>
        <p:nvSpPr>
          <p:cNvPr id="13" name="top-accent">
            <a:extLst xmlns:a="http://schemas.openxmlformats.org/drawingml/2006/main">
              <a:ext uri="{FF2B5EF4-FFF2-40B4-BE49-F238E27FC236}">
                <a16:creationId xmlns:a16="http://schemas.microsoft.com/office/drawing/2014/main" id="{EC8C9633-9296-45B9-93F4-D2F2DB16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89f0d86b949d6"/>
          <a:stretch xmlns:a="http://schemas.openxmlformats.org/drawingml/2006/main"/>
        </p:blipFill>
        <p:spPr>
          <a:xfrm xmlns:a="http://schemas.openxmlformats.org/drawingml/2006/main">
            <a:off x="533400" y="209550"/>
            <a:ext cx="381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4207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94ED34F5-F9A9-4703-A362-0437C867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실습 프롬프트 · P17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65B3ED4E-6603-4604-8134-61F1970D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복사용 상세 원문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18AE18-F790-4394-9387-C1B3ABF3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P17. 긴 현재 페이지에서 근거 있는 Q&amp;A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81FFDD7-C82C-43A9-9D69-DCF5997A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9218900-E693-4C40-B9E3-524D9B57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43DC84B-2790-4D37-BBFC-37964D74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복사용 상세 프롬프트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2F8DCF-78C4-4B58-8B35-2040E13B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27</a:t>
            </a:r>
          </a:p>
        </p:txBody>
      </p:sp>
      <p:sp>
        <p:nvSpPr>
          <p:cNvPr id="8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737B2B40-F6FE-4F27-B868-A6683F34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완료 기준 · 답과 근거 절·없는 정보가 구분됨</a:t>
            </a:r>
          </a:p>
        </p:txBody>
      </p:sp>
      <p:sp>
        <p:nvSpPr>
          <p:cNvPr id="9" name="prompt-background">
            <a:extLst xmlns:a="http://schemas.openxmlformats.org/drawingml/2006/main">
              <a:ext uri="{FF2B5EF4-FFF2-40B4-BE49-F238E27FC236}">
                <a16:creationId xmlns:a16="http://schemas.microsoft.com/office/drawing/2014/main" id="{35DC4174-1D8B-47B3-89FE-4A5830B4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1125200" cy="4076700"/>
          </a:xfrm>
          <a:prstGeom xmlns:a="http://schemas.openxmlformats.org/drawingml/2006/main" prst="roundRect">
            <a:avLst>
              <a:gd name="adj" fmla="val 32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0" name="copyable-prompt">
            <a:extLst xmlns:a="http://schemas.openxmlformats.org/drawingml/2006/main">
              <a:ext uri="{FF2B5EF4-FFF2-40B4-BE49-F238E27FC236}">
                <a16:creationId xmlns:a16="http://schemas.microsoft.com/office/drawing/2014/main" id="{DDAECEBD-4F4C-427A-BA19-C117038E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10706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현재 열린 긴 교육 공지 페이지 전체를 읽어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본문 끝까지 읽었는지와 읽지 못한 범위를 알려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아래 질문에 현재 페이지의 근거만 사용해 답해.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대상·일시·장소·신청 마감·준비물은 무엇이야?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실습 결과는 어디에 저장하고 무엇을 공유하나요?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참가비와 취소 방법도 안내되어 있나요?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표는 질문 / 답 / 근거 절 / 근거 문장으로 만들어.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없으면 “페이지에 정보 없음”이라고 표시해.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메뉴·다른 사이트 내용은 본문 사실과 섞지 마.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등록·신청 버튼을 누르지 말고 답변만 보여 줘.</a:t>
            </a:r>
          </a:p>
        </p:txBody>
      </p:sp>
      <p:sp>
        <p:nvSpPr>
          <p:cNvPr id="11" name="expected-result">
            <a:extLst xmlns:a="http://schemas.openxmlformats.org/drawingml/2006/main">
              <a:ext uri="{FF2B5EF4-FFF2-40B4-BE49-F238E27FC236}">
                <a16:creationId xmlns:a16="http://schemas.microsoft.com/office/drawing/2014/main" id="{E00C8828-EA00-49CE-A054-917E902A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59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본문 상자 안 전체 선택 → 복사 → SPICA에 붙여넣기</a:t>
            </a:r>
          </a:p>
        </p:txBody>
      </p:sp>
      <p:sp>
        <p:nvSpPr>
          <p:cNvPr id="13" name="top-accent">
            <a:extLst xmlns:a="http://schemas.openxmlformats.org/drawingml/2006/main">
              <a:ext uri="{FF2B5EF4-FFF2-40B4-BE49-F238E27FC236}">
                <a16:creationId xmlns:a16="http://schemas.microsoft.com/office/drawing/2014/main" id="{1D867F51-904D-45F7-89DF-959B136B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6521776c341bf"/>
          <a:stretch xmlns:a="http://schemas.openxmlformats.org/drawingml/2006/main"/>
        </p:blipFill>
        <p:spPr>
          <a:xfrm xmlns:a="http://schemas.openxmlformats.org/drawingml/2006/main">
            <a:off x="533400" y="209550"/>
            <a:ext cx="381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75614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94ED34F5-F9A9-4703-A362-0437C867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실습 프롬프트 · P18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65B3ED4E-6603-4604-8134-61F1970D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복사용 상세 원문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18AE18-F790-4394-9387-C1B3ABF3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P18. 현재 페이지를 외국인 동료용으로 번역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81FFDD7-C82C-43A9-9D69-DCF5997A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9218900-E693-4C40-B9E3-524D9B57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43DC84B-2790-4D37-BBFC-37964D74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복사용 상세 프롬프트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2F8DCF-78C4-4B58-8B35-2040E13B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28</a:t>
            </a:r>
          </a:p>
        </p:txBody>
      </p:sp>
      <p:sp>
        <p:nvSpPr>
          <p:cNvPr id="8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737B2B40-F6FE-4F27-B868-A6683F34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완료 기준 · 제목 구조·숫자·확정 여부를 보존한 번역</a:t>
            </a:r>
          </a:p>
        </p:txBody>
      </p:sp>
      <p:sp>
        <p:nvSpPr>
          <p:cNvPr id="9" name="prompt-background">
            <a:extLst xmlns:a="http://schemas.openxmlformats.org/drawingml/2006/main">
              <a:ext uri="{FF2B5EF4-FFF2-40B4-BE49-F238E27FC236}">
                <a16:creationId xmlns:a16="http://schemas.microsoft.com/office/drawing/2014/main" id="{35DC4174-1D8B-47B3-89FE-4A5830B4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1125200" cy="4076700"/>
          </a:xfrm>
          <a:prstGeom xmlns:a="http://schemas.openxmlformats.org/drawingml/2006/main" prst="roundRect">
            <a:avLst>
              <a:gd name="adj" fmla="val 32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0" name="copyable-prompt">
            <a:extLst xmlns:a="http://schemas.openxmlformats.org/drawingml/2006/main">
              <a:ext uri="{FF2B5EF4-FFF2-40B4-BE49-F238E27FC236}">
                <a16:creationId xmlns:a16="http://schemas.microsoft.com/office/drawing/2014/main" id="{DDAECEBD-4F4C-427A-BA19-C117038E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10706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현재 열린 교육 공지를 쉬운 업무 영어로 번역해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먼저 페이지 제목과 번역할 본문 범위를 확인해.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제목·소제목·표의 순서는 원문과 같게 유지해.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날짜·한국 시간·금액·인원·장소는 바꾸지 마.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사내 용어는 영어 뜻과 원래 한국어를 함께 써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미확정·확인 필요 같은 상태를 확정으로 바꾸지 마.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길면 절별로 나누고 번역하지 않은 범위를 알려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마지막에 외국인 동료용 핵심 안내 5줄을 붙여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숫자와 필수 준비물을 원문과 한 번 더 대조해.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02_결과/교육공지_영문.md로 저장하고 보여 줘.</a:t>
            </a:r>
          </a:p>
        </p:txBody>
      </p:sp>
      <p:sp>
        <p:nvSpPr>
          <p:cNvPr id="11" name="expected-result">
            <a:extLst xmlns:a="http://schemas.openxmlformats.org/drawingml/2006/main">
              <a:ext uri="{FF2B5EF4-FFF2-40B4-BE49-F238E27FC236}">
                <a16:creationId xmlns:a16="http://schemas.microsoft.com/office/drawing/2014/main" id="{E00C8828-EA00-49CE-A054-917E902A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59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본문 상자 안 전체 선택 → 복사 → SPICA에 붙여넣기</a:t>
            </a:r>
          </a:p>
        </p:txBody>
      </p:sp>
      <p:sp>
        <p:nvSpPr>
          <p:cNvPr id="13" name="top-accent">
            <a:extLst xmlns:a="http://schemas.openxmlformats.org/drawingml/2006/main">
              <a:ext uri="{FF2B5EF4-FFF2-40B4-BE49-F238E27FC236}">
                <a16:creationId xmlns:a16="http://schemas.microsoft.com/office/drawing/2014/main" id="{6C1179F3-404C-4840-A94A-F2736397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5b8ab8ef9a4ae6"/>
          <a:stretch xmlns:a="http://schemas.openxmlformats.org/drawingml/2006/main"/>
        </p:blipFill>
        <p:spPr>
          <a:xfrm xmlns:a="http://schemas.openxmlformats.org/drawingml/2006/main">
            <a:off x="533400" y="209550"/>
            <a:ext cx="381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75614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94ED34F5-F9A9-4703-A362-0437C867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실습 프롬프트 · P19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65B3ED4E-6603-4604-8134-61F1970D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복사용 상세 원문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18AE18-F790-4394-9387-C1B3ABF3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P19. 같은 데모 사이트의 WebMCP 유무 비교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81FFDD7-C82C-43A9-9D69-DCF5997A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9218900-E693-4C40-B9E3-524D9B57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43DC84B-2790-4D37-BBFC-37964D74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복사용 상세 프롬프트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2F8DCF-78C4-4B58-8B35-2040E13B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29</a:t>
            </a:r>
          </a:p>
        </p:txBody>
      </p:sp>
      <p:sp>
        <p:nvSpPr>
          <p:cNvPr id="8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737B2B40-F6FE-4F27-B868-A6683F34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완료 기준 · 같은 조건에서 화면·도구 결과를 대조함</a:t>
            </a:r>
          </a:p>
        </p:txBody>
      </p:sp>
      <p:sp>
        <p:nvSpPr>
          <p:cNvPr id="9" name="prompt-background">
            <a:extLst xmlns:a="http://schemas.openxmlformats.org/drawingml/2006/main">
              <a:ext uri="{FF2B5EF4-FFF2-40B4-BE49-F238E27FC236}">
                <a16:creationId xmlns:a16="http://schemas.microsoft.com/office/drawing/2014/main" id="{35DC4174-1D8B-47B3-89FE-4A5830B4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1125200" cy="4076700"/>
          </a:xfrm>
          <a:prstGeom xmlns:a="http://schemas.openxmlformats.org/drawingml/2006/main" prst="roundRect">
            <a:avLst>
              <a:gd name="adj" fmla="val 32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0" name="copyable-prompt">
            <a:extLst xmlns:a="http://schemas.openxmlformats.org/drawingml/2006/main">
              <a:ext uri="{FF2B5EF4-FFF2-40B4-BE49-F238E27FC236}">
                <a16:creationId xmlns:a16="http://schemas.microsoft.com/office/drawing/2014/main" id="{DDAECEBD-4F4C-427A-BA19-C117038E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10706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데모 사이트 1A와 1B를 같은 조건으로 비교할 거야.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먼저 WebMCP 없는 1A에서 화면을 조작해 조회해.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조건은 2026-09, 경영지원이며 결과를 기록해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다음으로 WebMCP 있는 1B를 열어 도구를 확인해.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get_training_expenses가 연결되면 같은 조건으로 호출해.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표는 사이트 / 수행 방법 / 항목 수 / 합계로 정리해.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두 결과의 예산·실적과 조회 조건을 대조해.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어떤 클릭이나 화면 탐색이 줄었는지 설명해.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1B 도구가 없으면 미지원이라고 정확히 표시해.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화면 조회를 WebMCP 호출 성공으로 표현하지 마.</a:t>
            </a:r>
          </a:p>
        </p:txBody>
      </p:sp>
      <p:sp>
        <p:nvSpPr>
          <p:cNvPr id="11" name="expected-result">
            <a:extLst xmlns:a="http://schemas.openxmlformats.org/drawingml/2006/main">
              <a:ext uri="{FF2B5EF4-FFF2-40B4-BE49-F238E27FC236}">
                <a16:creationId xmlns:a16="http://schemas.microsoft.com/office/drawing/2014/main" id="{E00C8828-EA00-49CE-A054-917E902A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59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본문 상자 안 전체 선택 → 복사 → SPICA에 붙여넣기</a:t>
            </a:r>
          </a:p>
        </p:txBody>
      </p:sp>
      <p:sp>
        <p:nvSpPr>
          <p:cNvPr id="13" name="top-accent">
            <a:extLst xmlns:a="http://schemas.openxmlformats.org/drawingml/2006/main">
              <a:ext uri="{FF2B5EF4-FFF2-40B4-BE49-F238E27FC236}">
                <a16:creationId xmlns:a16="http://schemas.microsoft.com/office/drawing/2014/main" id="{E7DF9A6A-B17A-4627-ACE1-9AB0F2A3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beaca9cf04aa8"/>
          <a:stretch xmlns:a="http://schemas.openxmlformats.org/drawingml/2006/main"/>
        </p:blipFill>
        <p:spPr>
          <a:xfrm xmlns:a="http://schemas.openxmlformats.org/drawingml/2006/main">
            <a:off x="533400" y="209550"/>
            <a:ext cx="381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7561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94ED34F5-F9A9-4703-A362-0437C867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실습 프롬프트 · P20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65B3ED4E-6603-4604-8134-61F1970D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복사용 상세 원문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18AE18-F790-4394-9387-C1B3ABF3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P20. 데모 사이트 다운로드 절차 기록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81FFDD7-C82C-43A9-9D69-DCF5997A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9218900-E693-4C40-B9E3-524D9B57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43DC84B-2790-4D37-BBFC-37964D74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복사용 상세 프롬프트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2F8DCF-78C4-4B58-8B35-2040E13B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30</a:t>
            </a:r>
          </a:p>
        </p:txBody>
      </p:sp>
      <p:sp>
        <p:nvSpPr>
          <p:cNvPr id="8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737B2B40-F6FE-4F27-B868-A6683F34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완료 기준 · 조건과 파일이 일치하는 다운로드 기록</a:t>
            </a:r>
          </a:p>
        </p:txBody>
      </p:sp>
      <p:sp>
        <p:nvSpPr>
          <p:cNvPr id="9" name="prompt-background">
            <a:extLst xmlns:a="http://schemas.openxmlformats.org/drawingml/2006/main">
              <a:ext uri="{FF2B5EF4-FFF2-40B4-BE49-F238E27FC236}">
                <a16:creationId xmlns:a16="http://schemas.microsoft.com/office/drawing/2014/main" id="{35DC4174-1D8B-47B3-89FE-4A5830B4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1125200" cy="4076700"/>
          </a:xfrm>
          <a:prstGeom xmlns:a="http://schemas.openxmlformats.org/drawingml/2006/main" prst="roundRect">
            <a:avLst>
              <a:gd name="adj" fmla="val 32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0" name="copyable-prompt">
            <a:extLst xmlns:a="http://schemas.openxmlformats.org/drawingml/2006/main">
              <a:ext uri="{FF2B5EF4-FFF2-40B4-BE49-F238E27FC236}">
                <a16:creationId xmlns:a16="http://schemas.microsoft.com/office/drawing/2014/main" id="{DDAECEBD-4F4C-427A-BA19-C117038E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10706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Replay+ 데모 사이트의 다운로드를 기록하고 싶어.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먼저 내가 익스텐션에서 기록을 시작하도록 안내해.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교육 계정으로 시작하고 조회 조건을 입력해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조건은 2026-09, 경영지원이야.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조회 후 월·부서·항목 수를 확인하고 Excel을 내려받아.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확인 창의 파일명과 금액을 보고 다운로드를 진행해.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실제 저장된 파일을 열어 조건과 숫자를 확인해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원본 폴더에 저장하되 같은 이름은 덮어쓰지 마.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내가 익스텐션에서 기록 종료·저장을 확인하게 해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로그인부터 파일 확인까지 누락 단계가 없는지 정리해.</a:t>
            </a:r>
          </a:p>
        </p:txBody>
      </p:sp>
      <p:sp>
        <p:nvSpPr>
          <p:cNvPr id="11" name="expected-result">
            <a:extLst xmlns:a="http://schemas.openxmlformats.org/drawingml/2006/main">
              <a:ext uri="{FF2B5EF4-FFF2-40B4-BE49-F238E27FC236}">
                <a16:creationId xmlns:a16="http://schemas.microsoft.com/office/drawing/2014/main" id="{E00C8828-EA00-49CE-A054-917E902A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59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본문 상자 안 전체 선택 → 복사 → SPICA에 붙여넣기</a:t>
            </a:r>
          </a:p>
        </p:txBody>
      </p:sp>
      <p:sp>
        <p:nvSpPr>
          <p:cNvPr id="13" name="top-accent">
            <a:extLst xmlns:a="http://schemas.openxmlformats.org/drawingml/2006/main">
              <a:ext uri="{FF2B5EF4-FFF2-40B4-BE49-F238E27FC236}">
                <a16:creationId xmlns:a16="http://schemas.microsoft.com/office/drawing/2014/main" id="{91447EBF-C41E-4DC6-97ED-AC45261D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8ec1018674ffd"/>
          <a:stretch xmlns:a="http://schemas.openxmlformats.org/drawingml/2006/main"/>
        </p:blipFill>
        <p:spPr>
          <a:xfrm xmlns:a="http://schemas.openxmlformats.org/drawingml/2006/main">
            <a:off x="533400" y="209550"/>
            <a:ext cx="381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75614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94ED34F5-F9A9-4703-A362-0437C867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실습 프롬프트 · P21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65B3ED4E-6603-4604-8134-61F1970D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복사용 상세 원문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18AE18-F790-4394-9387-C1B3ABF3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P21. 다운로드 절차를 스킬로 저장하고 재사용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81FFDD7-C82C-43A9-9D69-DCF5997A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9218900-E693-4C40-B9E3-524D9B57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43DC84B-2790-4D37-BBFC-37964D74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복사용 상세 프롬프트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2F8DCF-78C4-4B58-8B35-2040E13B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31</a:t>
            </a:r>
          </a:p>
        </p:txBody>
      </p:sp>
      <p:sp>
        <p:nvSpPr>
          <p:cNvPr id="8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737B2B40-F6FE-4F27-B868-A6683F34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완료 기준 · 입력값이 있는 스킬과 재실행 파일 확인</a:t>
            </a:r>
          </a:p>
        </p:txBody>
      </p:sp>
      <p:sp>
        <p:nvSpPr>
          <p:cNvPr id="9" name="prompt-background">
            <a:extLst xmlns:a="http://schemas.openxmlformats.org/drawingml/2006/main">
              <a:ext uri="{FF2B5EF4-FFF2-40B4-BE49-F238E27FC236}">
                <a16:creationId xmlns:a16="http://schemas.microsoft.com/office/drawing/2014/main" id="{35DC4174-1D8B-47B3-89FE-4A5830B4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1125200" cy="4076700"/>
          </a:xfrm>
          <a:prstGeom xmlns:a="http://schemas.openxmlformats.org/drawingml/2006/main" prst="roundRect">
            <a:avLst>
              <a:gd name="adj" fmla="val 32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0" name="copyable-prompt">
            <a:extLst xmlns:a="http://schemas.openxmlformats.org/drawingml/2006/main">
              <a:ext uri="{FF2B5EF4-FFF2-40B4-BE49-F238E27FC236}">
                <a16:creationId xmlns:a16="http://schemas.microsoft.com/office/drawing/2014/main" id="{DDAECEBD-4F4C-427A-BA19-C117038E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10706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방금 성공한 다운로드 절차를 스킬로 저장해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이름은 “월별 교육비 내려받기”로 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시작 조건은 데모 사이트를 열고 교육 계정으로 시작함.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입력은 조회 월 / 부서 / 저장 폴더로 나눠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Replay+ 기록을 재사용할 수 있으면 연결해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조회 → 파일명 확인 → 다운로드 → 파일 열기를 담아.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로그인·화면 변경 시 멈추고 확인하는 기준도 적어.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저장 후 사용법을 보여 주고 2026-10, 인사로 실행해.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파일의 월·부서가 첫 번째 결과와 다른지 확인해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저장·연결이 미지원이면 이유와 수동 대안을 알려 줘.</a:t>
            </a:r>
          </a:p>
        </p:txBody>
      </p:sp>
      <p:sp>
        <p:nvSpPr>
          <p:cNvPr id="11" name="expected-result">
            <a:extLst xmlns:a="http://schemas.openxmlformats.org/drawingml/2006/main">
              <a:ext uri="{FF2B5EF4-FFF2-40B4-BE49-F238E27FC236}">
                <a16:creationId xmlns:a16="http://schemas.microsoft.com/office/drawing/2014/main" id="{E00C8828-EA00-49CE-A054-917E902A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59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본문 상자 안 전체 선택 → 복사 → SPICA에 붙여넣기</a:t>
            </a:r>
          </a:p>
        </p:txBody>
      </p:sp>
      <p:sp>
        <p:nvSpPr>
          <p:cNvPr id="13" name="top-accent">
            <a:extLst xmlns:a="http://schemas.openxmlformats.org/drawingml/2006/main">
              <a:ext uri="{FF2B5EF4-FFF2-40B4-BE49-F238E27FC236}">
                <a16:creationId xmlns:a16="http://schemas.microsoft.com/office/drawing/2014/main" id="{F7A000A7-C0EA-41D6-9C65-FE55A530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201a3c6934c8e"/>
          <a:stretch xmlns:a="http://schemas.openxmlformats.org/drawingml/2006/main"/>
        </p:blipFill>
        <p:spPr>
          <a:xfrm xmlns:a="http://schemas.openxmlformats.org/drawingml/2006/main">
            <a:off x="533400" y="209550"/>
            <a:ext cx="381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75614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94ED34F5-F9A9-4703-A362-0437C867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7543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2864DC"/>
                </a:solidFill>
                <a:latin typeface="Noto Sans CJK KR"/>
                <a:ea typeface="Noto Sans CJK KR"/>
                <a:cs typeface="Noto Sans CJK KR"/>
              </a:rPr>
              <a:t>실습 프롬프트 · B01</a:t>
            </a:r>
          </a:p>
        </p:txBody>
      </p:sp>
      <p:sp>
        <p:nvSpPr>
          <p:cNvPr id="2" name="timing">
            <a:extLst xmlns:a="http://schemas.openxmlformats.org/drawingml/2006/main">
              <a:ext uri="{FF2B5EF4-FFF2-40B4-BE49-F238E27FC236}">
                <a16:creationId xmlns:a16="http://schemas.microsoft.com/office/drawing/2014/main" id="{65B3ED4E-6603-4604-8134-61F1970D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복사용 상세 원문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18AE18-F790-4394-9387-C1B3ABF3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B01. 현재 페이지의 궁금한 점을 웹으로 확인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81FFDD7-C82C-43A9-9D69-DCF5997A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9218900-E693-4C40-B9E3-524D9B57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43DC84B-2790-4D37-BBFC-37964D74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SPICA  ·  복사용 상세 프롬프트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2F8DCF-78C4-4B58-8B35-2040E13B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32</a:t>
            </a:r>
          </a:p>
        </p:txBody>
      </p:sp>
      <p:sp>
        <p:nvSpPr>
          <p:cNvPr id="8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737B2B40-F6FE-4F27-B868-A6683F34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98F84"/>
                </a:solidFill>
                <a:latin typeface="Noto Sans CJK KR"/>
                <a:ea typeface="Noto Sans CJK KR"/>
                <a:cs typeface="Noto Sans CJK KR"/>
              </a:rPr>
              <a:t>완료 기준 · 페이지 사실·외부 근거·해석이 구분됨</a:t>
            </a:r>
          </a:p>
        </p:txBody>
      </p:sp>
      <p:sp>
        <p:nvSpPr>
          <p:cNvPr id="9" name="prompt-background">
            <a:extLst xmlns:a="http://schemas.openxmlformats.org/drawingml/2006/main">
              <a:ext uri="{FF2B5EF4-FFF2-40B4-BE49-F238E27FC236}">
                <a16:creationId xmlns:a16="http://schemas.microsoft.com/office/drawing/2014/main" id="{35DC4174-1D8B-47B3-89FE-4A5830B4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1125200" cy="4076700"/>
          </a:xfrm>
          <a:prstGeom xmlns:a="http://schemas.openxmlformats.org/drawingml/2006/main" prst="roundRect">
            <a:avLst>
              <a:gd name="adj" fmla="val 32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0" name="copyable-prompt">
            <a:extLst xmlns:a="http://schemas.openxmlformats.org/drawingml/2006/main">
              <a:ext uri="{FF2B5EF4-FFF2-40B4-BE49-F238E27FC236}">
                <a16:creationId xmlns:a16="http://schemas.microsoft.com/office/drawing/2014/main" id="{DDAECEBD-4F4C-427A-BA19-C117038E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10706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현재 교육 공지에 나온 문서 자동화가 궁금해.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먼저 현재 페이지가 설명한 범위를 요약해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공개 웹에서 관련 최근 사례나 공식 가이드를 찾아.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검색에는 일반적인 “AI 문서 자동화” 표현을 써.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내부 명칭·인원·예산·문서 원문을 검색하지 마.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공식 원문 최대 3개를 열어 날짜와 내용을 확인해.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현재 페이지 사실 / 외부 자료 / 네 해석을 나눠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각 외부 주장 옆에 원문 링크를 붙여 줘.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외부 일반론이 우리 사내 규정인 것처럼 쓰지 마.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4263D"/>
                </a:solidFill>
                <a:latin typeface="Noto Sans CJK KR"/>
                <a:ea typeface="Noto Sans CJK KR"/>
                <a:cs typeface="Noto Sans CJK KR"/>
              </a:rPr>
              <a:t>추가로 확인할 질문 3개로 마무리해 줘.</a:t>
            </a:r>
          </a:p>
        </p:txBody>
      </p:sp>
      <p:sp>
        <p:nvSpPr>
          <p:cNvPr id="11" name="expected-result">
            <a:extLst xmlns:a="http://schemas.openxmlformats.org/drawingml/2006/main">
              <a:ext uri="{FF2B5EF4-FFF2-40B4-BE49-F238E27FC236}">
                <a16:creationId xmlns:a16="http://schemas.microsoft.com/office/drawing/2014/main" id="{E00C8828-EA00-49CE-A054-917E902A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59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76B7F"/>
                </a:solidFill>
                <a:latin typeface="Noto Sans CJK KR"/>
                <a:ea typeface="Noto Sans CJK KR"/>
                <a:cs typeface="Noto Sans CJK KR"/>
              </a:rPr>
              <a:t>본문 상자 안 전체 선택 → 복사 → SPICA에 붙여넣기</a:t>
            </a:r>
          </a:p>
        </p:txBody>
      </p:sp>
      <p:sp>
        <p:nvSpPr>
          <p:cNvPr id="13" name="top-accent">
            <a:extLst xmlns:a="http://schemas.openxmlformats.org/drawingml/2006/main">
              <a:ext uri="{FF2B5EF4-FFF2-40B4-BE49-F238E27FC236}">
                <a16:creationId xmlns:a16="http://schemas.microsoft.com/office/drawing/2014/main" id="{CE20DA52-B938-420C-8CF3-596BCC95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4a92b7e654e77"/>
          <a:stretch xmlns:a="http://schemas.openxmlformats.org/drawingml/2006/main"/>
        </p:blipFill>
        <p:spPr>
          <a:xfrm xmlns:a="http://schemas.openxmlformats.org/drawingml/2006/main">
            <a:off x="533400" y="209550"/>
            <a:ext cx="381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756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2026-09-07T21:02:45.9930000Z</dcterms:created>
  <dcterms:modified xsi:type="dcterms:W3CDTF">2026-09-07T21:02:45.9930000Z</dcterms:modified>
</coreProperties>
</file>