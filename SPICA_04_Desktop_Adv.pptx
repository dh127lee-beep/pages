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7ef223bd24bdb" /><Relationship Type="http://schemas.openxmlformats.org/officeDocument/2006/relationships/extended-properties" Target="/docProps/app.xml" Id="R64934a1426204e30" /><Relationship Type="http://schemas.openxmlformats.org/officeDocument/2006/relationships/officeDocument" Target="/ppt/presentation.xml" Id="Re5b8e7892947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2c7eecb344eca"/>
  </p:sldMasterIdLst>
  <p:notesMasterIdLst>
    <p:notesMasterId xmlns:r="http://schemas.openxmlformats.org/officeDocument/2006/relationships" r:id="R7bf97cd83fb74a1d"/>
  </p:notesMasterIdLst>
  <p:sldIdLst>
    <p:sldId xmlns:r="http://schemas.openxmlformats.org/officeDocument/2006/relationships" id="256" r:id="Rcbe5f7ea76bd4f6b"/>
    <p:sldId xmlns:r="http://schemas.openxmlformats.org/officeDocument/2006/relationships" id="257" r:id="R77a5aa0da22740ce"/>
    <p:sldId xmlns:r="http://schemas.openxmlformats.org/officeDocument/2006/relationships" id="258" r:id="Rac38a9cf9c2f4d65"/>
    <p:sldId xmlns:r="http://schemas.openxmlformats.org/officeDocument/2006/relationships" id="259" r:id="R30031209c7f446af"/>
    <p:sldId xmlns:r="http://schemas.openxmlformats.org/officeDocument/2006/relationships" id="260" r:id="Rc39aa45ec0504c6d"/>
    <p:sldId xmlns:r="http://schemas.openxmlformats.org/officeDocument/2006/relationships" id="261" r:id="R72c1b88dfd664f4d"/>
    <p:sldId xmlns:r="http://schemas.openxmlformats.org/officeDocument/2006/relationships" id="262" r:id="R1146e994c2e54845"/>
    <p:sldId xmlns:r="http://schemas.openxmlformats.org/officeDocument/2006/relationships" id="263" r:id="R2f58b9356b90401d"/>
    <p:sldId xmlns:r="http://schemas.openxmlformats.org/officeDocument/2006/relationships" id="264" r:id="R9ac426d923444e5f"/>
    <p:sldId xmlns:r="http://schemas.openxmlformats.org/officeDocument/2006/relationships" id="265" r:id="Ra812c9ada9d04960"/>
    <p:sldId xmlns:r="http://schemas.openxmlformats.org/officeDocument/2006/relationships" id="266" r:id="Rbf774ffa14634551"/>
    <p:sldId xmlns:r="http://schemas.openxmlformats.org/officeDocument/2006/relationships" id="267" r:id="R210820c38ff644c4"/>
    <p:sldId xmlns:r="http://schemas.openxmlformats.org/officeDocument/2006/relationships" id="268" r:id="R59dc692c975e489a"/>
    <p:sldId xmlns:r="http://schemas.openxmlformats.org/officeDocument/2006/relationships" id="269" r:id="R65a065d6b2984038"/>
    <p:sldId xmlns:r="http://schemas.openxmlformats.org/officeDocument/2006/relationships" id="270" r:id="R9ad6ae91a6204f1a"/>
    <p:sldId xmlns:r="http://schemas.openxmlformats.org/officeDocument/2006/relationships" id="271" r:id="R5192b7511b1a4af5"/>
    <p:sldId xmlns:r="http://schemas.openxmlformats.org/officeDocument/2006/relationships" id="272" r:id="R164599f487de4570"/>
    <p:sldId xmlns:r="http://schemas.openxmlformats.org/officeDocument/2006/relationships" id="273" r:id="R757e57245d0a4698"/>
    <p:sldId xmlns:r="http://schemas.openxmlformats.org/officeDocument/2006/relationships" id="274" r:id="R79024c40b0af4fcc"/>
    <p:sldId xmlns:r="http://schemas.openxmlformats.org/officeDocument/2006/relationships" id="275" r:id="Re9dd574b77ae42b5"/>
    <p:sldId xmlns:r="http://schemas.openxmlformats.org/officeDocument/2006/relationships" id="276" r:id="R5f4e8ef2efe948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0468908d2a4255" /><Relationship Type="http://schemas.openxmlformats.org/officeDocument/2006/relationships/slideMaster" Target="/ppt/slideMasters/slideMaster1.xml" Id="R0672c7eecb344eca" /><Relationship Type="http://schemas.openxmlformats.org/officeDocument/2006/relationships/notesMaster" Target="/ppt/notesMasters/notesMaster1.xml" Id="R7bf97cd83fb74a1d" /><Relationship Type="http://schemas.openxmlformats.org/officeDocument/2006/relationships/presProps" Target="/ppt/presProps.xml" Id="Rd72e220e9d1b4048" /><Relationship Type="http://schemas.openxmlformats.org/officeDocument/2006/relationships/tableStyles" Target="/ppt/tableStyles.xml" Id="R6992128f66884aa0" /><Relationship Type="http://schemas.openxmlformats.org/officeDocument/2006/relationships/slide" Target="/ppt/slides/slide1.xml" Id="Rcbe5f7ea76bd4f6b" /><Relationship Type="http://schemas.openxmlformats.org/officeDocument/2006/relationships/slide" Target="/ppt/slides/slide2.xml" Id="R77a5aa0da22740ce" /><Relationship Type="http://schemas.openxmlformats.org/officeDocument/2006/relationships/slide" Target="/ppt/slides/slide3.xml" Id="Rac38a9cf9c2f4d65" /><Relationship Type="http://schemas.openxmlformats.org/officeDocument/2006/relationships/slide" Target="/ppt/slides/slide4.xml" Id="R30031209c7f446af" /><Relationship Type="http://schemas.openxmlformats.org/officeDocument/2006/relationships/slide" Target="/ppt/slides/slide5.xml" Id="Rc39aa45ec0504c6d" /><Relationship Type="http://schemas.openxmlformats.org/officeDocument/2006/relationships/slide" Target="/ppt/slides/slide6.xml" Id="R72c1b88dfd664f4d" /><Relationship Type="http://schemas.openxmlformats.org/officeDocument/2006/relationships/slide" Target="/ppt/slides/slide7.xml" Id="R1146e994c2e54845" /><Relationship Type="http://schemas.openxmlformats.org/officeDocument/2006/relationships/slide" Target="/ppt/slides/slide8.xml" Id="R2f58b9356b90401d" /><Relationship Type="http://schemas.openxmlformats.org/officeDocument/2006/relationships/slide" Target="/ppt/slides/slide9.xml" Id="R9ac426d923444e5f" /><Relationship Type="http://schemas.openxmlformats.org/officeDocument/2006/relationships/slide" Target="/ppt/slides/slide10.xml" Id="Ra812c9ada9d04960" /><Relationship Type="http://schemas.openxmlformats.org/officeDocument/2006/relationships/slide" Target="/ppt/slides/slide11.xml" Id="Rbf774ffa14634551" /><Relationship Type="http://schemas.openxmlformats.org/officeDocument/2006/relationships/slide" Target="/ppt/slides/slide12.xml" Id="R210820c38ff644c4" /><Relationship Type="http://schemas.openxmlformats.org/officeDocument/2006/relationships/slide" Target="/ppt/slides/slide13.xml" Id="R59dc692c975e489a" /><Relationship Type="http://schemas.openxmlformats.org/officeDocument/2006/relationships/slide" Target="/ppt/slides/slide14.xml" Id="R65a065d6b2984038" /><Relationship Type="http://schemas.openxmlformats.org/officeDocument/2006/relationships/slide" Target="/ppt/slides/slide15.xml" Id="R9ad6ae91a6204f1a" /><Relationship Type="http://schemas.openxmlformats.org/officeDocument/2006/relationships/slide" Target="/ppt/slides/slide16.xml" Id="R5192b7511b1a4af5" /><Relationship Type="http://schemas.openxmlformats.org/officeDocument/2006/relationships/slide" Target="/ppt/slides/slide17.xml" Id="R164599f487de4570" /><Relationship Type="http://schemas.openxmlformats.org/officeDocument/2006/relationships/slide" Target="/ppt/slides/slide18.xml" Id="R757e57245d0a4698" /><Relationship Type="http://schemas.openxmlformats.org/officeDocument/2006/relationships/slide" Target="/ppt/slides/slide19.xml" Id="R79024c40b0af4fcc" /><Relationship Type="http://schemas.openxmlformats.org/officeDocument/2006/relationships/slide" Target="/ppt/slides/slide20.xml" Id="Re9dd574b77ae42b5" /><Relationship Type="http://schemas.openxmlformats.org/officeDocument/2006/relationships/slide" Target="/ppt/slides/slide21.xml" Id="R5f4e8ef2efe9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b587063f540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6af27510f49f0" /><Relationship Type="http://schemas.openxmlformats.org/officeDocument/2006/relationships/notesMaster" Target="/ppt/notesMasters/notesMaster1.xml" Id="R20e942652250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6d669e4324ed0" /><Relationship Type="http://schemas.openxmlformats.org/officeDocument/2006/relationships/notesMaster" Target="/ppt/notesMasters/notesMaster1.xml" Id="R7b9d17f436a242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2b409a8ac42c7" /><Relationship Type="http://schemas.openxmlformats.org/officeDocument/2006/relationships/notesMaster" Target="/ppt/notesMasters/notesMaster1.xml" Id="Rd57bb68c47b0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3736fc44448b8" /><Relationship Type="http://schemas.openxmlformats.org/officeDocument/2006/relationships/notesMaster" Target="/ppt/notesMasters/notesMaster1.xml" Id="R33630882a6654f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a9aa44d3d4880" /><Relationship Type="http://schemas.openxmlformats.org/officeDocument/2006/relationships/notesMaster" Target="/ppt/notesMasters/notesMaster1.xml" Id="R1807ecef9b60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4d5192008423a" /><Relationship Type="http://schemas.openxmlformats.org/officeDocument/2006/relationships/notesMaster" Target="/ppt/notesMasters/notesMaster1.xml" Id="R66ed6a41fc3c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8f9962767444b6" /><Relationship Type="http://schemas.openxmlformats.org/officeDocument/2006/relationships/notesMaster" Target="/ppt/notesMasters/notesMaster1.xml" Id="Rc966e76af5964e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735775afb498c" /><Relationship Type="http://schemas.openxmlformats.org/officeDocument/2006/relationships/notesMaster" Target="/ppt/notesMasters/notesMaster1.xml" Id="Rb63734e393b6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661137b1c542f2" /><Relationship Type="http://schemas.openxmlformats.org/officeDocument/2006/relationships/notesMaster" Target="/ppt/notesMasters/notesMaster1.xml" Id="R9a8b1961efe241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b43de352b04117" /><Relationship Type="http://schemas.openxmlformats.org/officeDocument/2006/relationships/notesMaster" Target="/ppt/notesMasters/notesMaster1.xml" Id="R0bb2166840d94f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22acf460c482c" /><Relationship Type="http://schemas.openxmlformats.org/officeDocument/2006/relationships/notesMaster" Target="/ppt/notesMasters/notesMaster1.xml" Id="R7902a68fd33746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b7c86c07284a4d" /><Relationship Type="http://schemas.openxmlformats.org/officeDocument/2006/relationships/notesMaster" Target="/ppt/notesMasters/notesMaster1.xml" Id="R5a01182e3a9349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711281aff649d7" /><Relationship Type="http://schemas.openxmlformats.org/officeDocument/2006/relationships/notesMaster" Target="/ppt/notesMasters/notesMaster1.xml" Id="R4afbeaaf0c3b42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97a784d8c248b1" /><Relationship Type="http://schemas.openxmlformats.org/officeDocument/2006/relationships/notesMaster" Target="/ppt/notesMasters/notesMaster1.xml" Id="Rdc90b6772c5e46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9104b9e8034f0c" /><Relationship Type="http://schemas.openxmlformats.org/officeDocument/2006/relationships/notesMaster" Target="/ppt/notesMasters/notesMaster1.xml" Id="R5fdd1cedac4d41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0806fb386c4503" /><Relationship Type="http://schemas.openxmlformats.org/officeDocument/2006/relationships/notesMaster" Target="/ppt/notesMasters/notesMaster1.xml" Id="R03c15680293049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f07353ddcf431a" /><Relationship Type="http://schemas.openxmlformats.org/officeDocument/2006/relationships/notesMaster" Target="/ppt/notesMasters/notesMaster1.xml" Id="R77b96e87e9b049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c9ed8fabb34495" /><Relationship Type="http://schemas.openxmlformats.org/officeDocument/2006/relationships/notesMaster" Target="/ppt/notesMasters/notesMaster1.xml" Id="Re1a2ab55d6b64b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17a13a1e6343d6" /><Relationship Type="http://schemas.openxmlformats.org/officeDocument/2006/relationships/notesMaster" Target="/ppt/notesMasters/notesMaster1.xml" Id="Rde3bceee004740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dbccbfc22749a1" /><Relationship Type="http://schemas.openxmlformats.org/officeDocument/2006/relationships/notesMaster" Target="/ppt/notesMasters/notesMaster1.xml" Id="Rd9e26909f2044d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702521fbf149b3" /><Relationship Type="http://schemas.openxmlformats.org/officeDocument/2006/relationships/notesMaster" Target="/ppt/notesMasters/notesMaster1.xml" Id="R9e86463159c8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메일과 일정을 한 장의 업무 브리핑으로</a:t>
            </a:r>
          </a:p>
          <a:p xmlns:a="http://schemas.openxmlformats.org/drawingml/2006/main">
            <a:r>
              <a:t>메일 분류</a:t>
            </a:r>
          </a:p>
          <a:p xmlns:a="http://schemas.openxmlformats.org/drawingml/2006/main">
            <a:r>
              <a:t>요청·회신·변경</a:t>
            </a:r>
          </a:p>
          <a:p xmlns:a="http://schemas.openxmlformats.org/drawingml/2006/main">
            <a:r>
              <a:t>근거 확인</a:t>
            </a:r>
          </a:p>
          <a:p xmlns:a="http://schemas.openxmlformats.org/drawingml/2006/main">
            <a:r>
              <a:t>일정 대조</a:t>
            </a:r>
          </a:p>
          <a:p xmlns:a="http://schemas.openxmlformats.org/drawingml/2006/main">
            <a:r>
              <a:t>후보·확정·충돌</a:t>
            </a:r>
          </a:p>
          <a:p xmlns:a="http://schemas.openxmlformats.org/drawingml/2006/main">
            <a:r>
              <a:t>변경 반영</a:t>
            </a:r>
          </a:p>
          <a:p xmlns:a="http://schemas.openxmlformats.org/drawingml/2006/main">
            <a:r>
              <a:t>HTML 정리</a:t>
            </a:r>
          </a:p>
          <a:p xmlns:a="http://schemas.openxmlformats.org/drawingml/2006/main">
            <a:r>
              <a:t>할 일·기한·근거</a:t>
            </a:r>
          </a:p>
          <a:p xmlns:a="http://schemas.openxmlformats.org/drawingml/2006/main">
            <a:r>
              <a:t>한눈에 보기</a:t>
            </a:r>
          </a:p>
          <a:p xmlns:a="http://schemas.openxmlformats.org/drawingml/2006/main">
            <a:r>
              <a:t>[편집 참고] 통합본 63쪽 · 분할본 04의 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메일·일정에서 액션 아이템을 뽑습니다</a:t>
            </a:r>
          </a:p>
          <a:p xmlns:a="http://schemas.openxmlformats.org/drawingml/2006/main">
            <a:r>
              <a:t>최근 7일 메일과 다음 7일 일정을 분석해 줘.</a:t>
            </a:r>
          </a:p>
          <a:p xmlns:a="http://schemas.openxmlformats.org/drawingml/2006/main">
            <a:r>
              <a:t>요청·회신 필요·일정·참고를 구분하고,</a:t>
            </a:r>
          </a:p>
          <a:p xmlns:a="http://schemas.openxmlformats.org/drawingml/2006/main">
            <a:r>
              <a:t>할 일·담당·기한·근거를 표로 정리해 줘.</a:t>
            </a:r>
          </a:p>
          <a:p xmlns:a="http://schemas.openxmlformats.org/drawingml/2006/main">
            <a:r>
              <a:t>변경·취소·충돌은 원래 메일과 대조해 줘.</a:t>
            </a:r>
          </a:p>
          <a:p xmlns:a="http://schemas.openxmlformats.org/drawingml/2006/main">
            <a:r>
              <a:t>결과 확인  액션 아이템·최신 변경·일정 충돌</a:t>
            </a:r>
          </a:p>
          <a:p xmlns:a="http://schemas.openxmlformats.org/drawingml/2006/main">
            <a:r>
              <a:t>[편집 참고] 통합본 64쪽 · 분할본 04의 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후보·확정·변경 일정을 구분합니다</a:t>
            </a:r>
          </a:p>
          <a:p xmlns:a="http://schemas.openxmlformats.org/drawingml/2006/main">
            <a:r>
              <a:t>[편집 참고] 통합본 65쪽 · 분할본 04의 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6 화면 · 메일과 일정을 함께 대조합니다</a:t>
            </a:r>
          </a:p>
          <a:p xmlns:a="http://schemas.openxmlformats.org/drawingml/2006/main">
            <a:r>
              <a:t>① 요청과 기한   ② 변경 메일   ③ 기존 일정</a:t>
            </a:r>
          </a:p>
          <a:p xmlns:a="http://schemas.openxmlformats.org/drawingml/2006/main">
            <a:r>
              <a:t>[편집 참고] 통합본 66쪽 · 분할본 04의 4쪽.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결과를 HTML 업무 브리핑으로 만듭니다</a:t>
            </a:r>
          </a:p>
          <a:p xmlns:a="http://schemas.openxmlformats.org/drawingml/2006/main">
            <a:r>
              <a:t>방금 정리한 메일·일정 결과를 HTML로 만들어 줘.</a:t>
            </a:r>
          </a:p>
          <a:p xmlns:a="http://schemas.openxmlformats.org/drawingml/2006/main">
            <a:r>
              <a:t>오늘 할 일·회신 필요·일정·확인 질문으로 나누고,</a:t>
            </a:r>
          </a:p>
          <a:p xmlns:a="http://schemas.openxmlformats.org/drawingml/2006/main">
            <a:r>
              <a:t>각 항목에 담당·기한·근거를 붙여 줘.</a:t>
            </a:r>
          </a:p>
          <a:p xmlns:a="http://schemas.openxmlformats.org/drawingml/2006/main">
            <a:r>
              <a:t>내업무_브리핑.html로 저장한 뒤 열어 줘.</a:t>
            </a:r>
          </a:p>
          <a:p xmlns:a="http://schemas.openxmlformats.org/drawingml/2006/main">
            <a:r>
              <a:t>결과 확인  조회 기간·기한·근거가 보이는 HTML</a:t>
            </a:r>
          </a:p>
          <a:p xmlns:a="http://schemas.openxmlformats.org/drawingml/2006/main">
            <a:r>
              <a:t>[편집 참고] 통합본 67쪽 · 분할본 04의 5쪽.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6 화면 · 할 일과 근거가 있는 HTML</a:t>
            </a:r>
          </a:p>
          <a:p xmlns:a="http://schemas.openxmlformats.org/drawingml/2006/main">
            <a:r>
              <a:t>① 오늘 우선순위   ② 기한과 상태   ③ 근거 ID</a:t>
            </a:r>
          </a:p>
          <a:p xmlns:a="http://schemas.openxmlformats.org/drawingml/2006/main">
            <a:r>
              <a:t>[편집 참고] 통합본 68쪽 · 분할본 04의 6쪽.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정리 결과와 원문을 다시 대조합니다</a:t>
            </a:r>
          </a:p>
          <a:p xmlns:a="http://schemas.openxmlformats.org/drawingml/2006/main">
            <a:r>
              <a:t>메일 요청</a:t>
            </a:r>
          </a:p>
          <a:p xmlns:a="http://schemas.openxmlformats.org/drawingml/2006/main">
            <a:r>
              <a:t>회신 필요·최신 변경·취소가 반영되었나요?</a:t>
            </a:r>
          </a:p>
          <a:p xmlns:a="http://schemas.openxmlformats.org/drawingml/2006/main">
            <a:r>
              <a:t>일정 조건</a:t>
            </a:r>
          </a:p>
          <a:p xmlns:a="http://schemas.openxmlformats.org/drawingml/2006/main">
            <a:r>
              <a:t>후보와 확정, 겹치는 시간이 구분되었나요?</a:t>
            </a:r>
          </a:p>
          <a:p xmlns:a="http://schemas.openxmlformats.org/drawingml/2006/main">
            <a:r>
              <a:t>HTML 결과</a:t>
            </a:r>
          </a:p>
          <a:p xmlns:a="http://schemas.openxmlformats.org/drawingml/2006/main">
            <a:r>
              <a:t>조회 기간·담당·기한·근거를 확인할 수 있나요?</a:t>
            </a:r>
          </a:p>
          <a:p xmlns:a="http://schemas.openxmlformats.org/drawingml/2006/main">
            <a:r>
              <a:t>[편집 참고] 통합본 69쪽 · 분할본 04의 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6. 내 업무를 HTML로 정리</a:t>
            </a:r>
          </a:p>
          <a:p xmlns:a="http://schemas.openxmlformats.org/drawingml/2006/main">
            <a:r>
              <a:t>메일·일정에서 할 일을 추려 HTML로 만듭니다.</a:t>
            </a:r>
          </a:p>
          <a:p xmlns:a="http://schemas.openxmlformats.org/drawingml/2006/main">
            <a:r>
              <a:t>6분 · 메일 6개·일정 3개의 요청과 변경 읽기</a:t>
            </a:r>
          </a:p>
          <a:p xmlns:a="http://schemas.openxmlformats.org/drawingml/2006/main">
            <a:r>
              <a:t>8분 · 액션 아이템·기한·일정 충돌 정리</a:t>
            </a:r>
          </a:p>
          <a:p xmlns:a="http://schemas.openxmlformats.org/drawingml/2006/main">
            <a:r>
              <a:t>8분 · HTML 작성, 근거와 표시 상태 확인</a:t>
            </a:r>
          </a:p>
          <a:p xmlns:a="http://schemas.openxmlformats.org/drawingml/2006/main">
            <a:r>
              <a:t>완료 기준  할 일·변경 일정·근거가 있는 HTML</a:t>
            </a:r>
          </a:p>
          <a:p xmlns:a="http://schemas.openxmlformats.org/drawingml/2006/main">
            <a:r>
              <a:t>P13 17쪽 · P14 18쪽 · MAIL01 21쪽</a:t>
            </a:r>
          </a:p>
          <a:p xmlns:a="http://schemas.openxmlformats.org/drawingml/2006/main">
            <a:r>
              <a:t>[편집 참고] 통합본 70쪽 · 분할본 04의 8쪽.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06 메일·일정·결재 연동</a:t>
            </a:r>
          </a:p>
          <a:p xmlns:a="http://schemas.openxmlformats.org/drawingml/2006/main">
            <a:r>
              <a:t>[시간] Q&amp;A · 5분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1. 캘린더에서 기존 생성 여부를 먼저 확인한다. 2. 사용자가 근거 문서와 회사 정책에 맞춰 확인한다. 실습에서는 결재선을 미확정으로 남기고 상신하지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71쪽 · 분할본 04의 9쪽.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자연어로 매일 아침 9시 브리핑을 예약합니다</a:t>
            </a:r>
          </a:p>
          <a:p xmlns:a="http://schemas.openxmlformats.org/drawingml/2006/main">
            <a:r>
              <a:t>매일 아침 9시, 한국 시간으로 AI 뉴스를 정리해 줘.</a:t>
            </a:r>
          </a:p>
          <a:p xmlns:a="http://schemas.openxmlformats.org/drawingml/2006/main">
            <a:r>
              <a:t>최근 24시간의 공식 뉴스 5건을 골라</a:t>
            </a:r>
          </a:p>
          <a:p xmlns:a="http://schemas.openxmlformats.org/drawingml/2006/main">
            <a:r>
              <a:t>요약·업무 영향·원문 링크가 있는 HTML로 만들고,</a:t>
            </a:r>
          </a:p>
          <a:p xmlns:a="http://schemas.openxmlformats.org/drawingml/2006/main">
            <a:r>
              <a:t>내 알림에서 결과를 열 수 있게 전달해 줘.</a:t>
            </a:r>
          </a:p>
          <a:p xmlns:a="http://schemas.openxmlformats.org/drawingml/2006/main">
            <a:r>
              <a:t>결과 확인  매일 9시·한국 시간·HTML 결과 위치</a:t>
            </a:r>
          </a:p>
          <a:p xmlns:a="http://schemas.openxmlformats.org/drawingml/2006/main">
            <a:r>
              <a:t>[편집 참고] 통합본 72쪽 · 분할본 04의 10쪽.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07 예약 작업</a:t>
            </a:r>
          </a:p>
          <a:p xmlns:a="http://schemas.openxmlformats.org/drawingml/2006/main">
            <a:r>
              <a:t>[시간] 14:15–14:35</a:t>
            </a:r>
          </a:p>
          <a:p xmlns:a="http://schemas.openxmlformats.org/drawingml/2006/main">
            <a:r>
              <a:t>가상 UI의 미리 실행 → 결과 확인 → 예약 저장 흐름을 보여 준다. 실제 제품이 미리 실행을 지원하지 않으면 1회 예약으로 확인한다. Asia/Seoul은 한국 시간대다. 저장 후 다음 실행 시각, 활성 상태, 실패 내역, 일시 중지 또는 삭제 위치를 확인한다.</a:t>
            </a:r>
          </a:p>
          <a:p xmlns:a="http://schemas.openxmlformats.org/drawingml/2006/main">
            <a:r>
              <a:t>[화면 교체] 교육용 가상화면이다. 슬라이드의 단일 그림을 PowerPoint 그림 변경으로 실제 화면과 교체한다. 주요 조작 영역 중심 16:9 캡처를 권장한다. 화면 식별자: tasks. 실제 SPICA에서 메뉴명과 동작을 검증한 뒤 교체한다.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[상세 복사 원문]</a:t>
            </a:r>
          </a:p>
          <a:p xmlns:a="http://schemas.openxmlformats.org/drawingml/2006/main">
            <a:r>
              <a:t>P15 19쪽</a:t>
            </a:r>
          </a:p>
          <a:p xmlns:a="http://schemas.openxmlformats.org/drawingml/2006/main">
            <a:r>
              <a:t>다음 내용으로 반복 예약 작업을 준비해 줘.</a:t>
            </a:r>
          </a:p>
          <a:p xmlns:a="http://schemas.openxmlformats.org/drawingml/2006/main">
            <a:r>
              <a:t>이름: 임직원 교육 주간 뉴스 / 매주 월요일 오전 9시</a:t>
            </a:r>
          </a:p>
          <a:p xmlns:a="http://schemas.openxmlformats.org/drawingml/2006/main">
            <a:r>
              <a:t>시간대: Asia/Seoul / 범위: 실행일 기준 최근 7일</a:t>
            </a:r>
          </a:p>
          <a:p xmlns:a="http://schemas.openxmlformats.org/drawingml/2006/main">
            <a:r>
              <a:t>공개 웹에서 ‘임직원 교육’ 뉴스 중 중복·광고를 빼고 5건을 찾아줘.</a:t>
            </a:r>
          </a:p>
          <a:p xmlns:a="http://schemas.openxmlformats.org/drawingml/2006/main">
            <a:r>
              <a:t>원문을 확인해 제목·게시일·요약 1줄·링크로 정리해 줘.</a:t>
            </a:r>
          </a:p>
          <a:p xmlns:a="http://schemas.openxmlformats.org/drawingml/2006/main">
            <a:r>
              <a:t>적합한 기사가 부족하면 실제 건수와 이유를 표시해 줘.</a:t>
            </a:r>
          </a:p>
          <a:p xmlns:a="http://schemas.openxmlformats.org/drawingml/2006/main">
            <a:r>
              <a:t>결과는 내 알림에만 남기고 다른 사람에게 보내지 마.</a:t>
            </a:r>
          </a:p>
          <a:p xmlns:a="http://schemas.openxmlformats.org/drawingml/2006/main">
            <a:r>
              <a:t>저장 전에 반복 조건·시간대·결과 위치·실행 환경을 보여 줘.</a:t>
            </a:r>
          </a:p>
          <a:p xmlns:a="http://schemas.openxmlformats.org/drawingml/2006/main">
            <a:r>
              <a:t>PC가 꺼져 있을 때 실행되는지는 지원 정책을 확인해서 알려 줘.</a:t>
            </a:r>
          </a:p>
          <a:p xmlns:a="http://schemas.openxmlformats.org/drawingml/2006/main">
            <a:r>
              <a:t>내가 확인하면 저장하고 다음 실행 시각과 활성 상태를 보여 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73쪽 · 분할본 04의 11쪽.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7 화면 · 시간과 HTML 결과를 확인합니다</a:t>
            </a:r>
          </a:p>
          <a:p xmlns:a="http://schemas.openxmlformats.org/drawingml/2006/main">
            <a:r>
              <a:t>① 매일 오전 9시   ② 한국 시간   ③ HTML 받기</a:t>
            </a:r>
          </a:p>
          <a:p xmlns:a="http://schemas.openxmlformats.org/drawingml/2006/main">
            <a:r>
              <a:t>[편집 참고] 통합본 74쪽 · 분할본 04의 12쪽.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7. 뉴스 HTML을 한 번 받아 보기</a:t>
            </a:r>
          </a:p>
          <a:p xmlns:a="http://schemas.openxmlformats.org/drawingml/2006/main">
            <a:r>
              <a:t>자연어로 예약하고 HTML 결과를 확인합니다.</a:t>
            </a:r>
          </a:p>
          <a:p xmlns:a="http://schemas.openxmlformats.org/drawingml/2006/main">
            <a:r>
              <a:t>3분 · 매일 9시 조건 확인, 5분 뒤 1회 시험</a:t>
            </a:r>
          </a:p>
          <a:p xmlns:a="http://schemas.openxmlformats.org/drawingml/2006/main">
            <a:r>
              <a:t>5분 · 시간대·환경 확인, 결과 기다리기</a:t>
            </a:r>
          </a:p>
          <a:p xmlns:a="http://schemas.openxmlformats.org/drawingml/2006/main">
            <a:r>
              <a:t>2분 · HTML 열기, 1회 시험 상태 정리</a:t>
            </a:r>
          </a:p>
          <a:p xmlns:a="http://schemas.openxmlformats.org/drawingml/2006/main">
            <a:r>
              <a:t>완료 기준  예약 조건 + 열린 뉴스 HTML 1개</a:t>
            </a:r>
          </a:p>
          <a:p xmlns:a="http://schemas.openxmlformats.org/drawingml/2006/main">
            <a:r>
              <a:t>[편집 참고] 통합본 75쪽 · 분할본 04의 13쪽.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07 예약 작업</a:t>
            </a:r>
          </a:p>
          <a:p xmlns:a="http://schemas.openxmlformats.org/drawingml/2006/main">
            <a:r>
              <a:t>[시간] Q&amp;A · 3분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PC·앱 실행 조건은 사내 운영 안내에서 확인한다. 다음 실행 시각·한국 시간대·활성 상태·로그인·결과 수신 위치·실패 이력 순서로 점검한다.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[상세 복사 원문]</a:t>
            </a:r>
          </a:p>
          <a:p xmlns:a="http://schemas.openxmlformats.org/drawingml/2006/main">
            <a:r>
              <a:t>P16 20쪽</a:t>
            </a:r>
          </a:p>
          <a:p xmlns:a="http://schemas.openxmlformats.org/drawingml/2006/main">
            <a:r>
              <a:t>지금부터 5분 뒤 한 번만 실행할 교육용 예약을 만들어 줘.</a:t>
            </a:r>
          </a:p>
          <a:p xmlns:a="http://schemas.openxmlformats.org/drawingml/2006/main">
            <a:r>
              <a:t>작업명은 ‘SPICA 예약 실습’으로 해 줘.</a:t>
            </a:r>
          </a:p>
          <a:p xmlns:a="http://schemas.openxmlformats.org/drawingml/2006/main">
            <a:r>
              <a:t>내용은 ‘지금 만든 워크숍 안내문의 필수 항목 5개를 확인해 줘’야.</a:t>
            </a:r>
          </a:p>
          <a:p xmlns:a="http://schemas.openxmlformats.org/drawingml/2006/main">
            <a:r>
              <a:t>결과는 내 알림에만 남기고 메일이나 팀 공간으로 보내지 마.</a:t>
            </a:r>
          </a:p>
          <a:p xmlns:a="http://schemas.openxmlformats.org/drawingml/2006/main">
            <a:r>
              <a:t>시간대는 Asia/Seoul이며 반복 없이 1회로 설정해 줘.</a:t>
            </a:r>
          </a:p>
          <a:p xmlns:a="http://schemas.openxmlformats.org/drawingml/2006/main">
            <a:r>
              <a:t>저장 전에 예정 시각과 실행할 내용을 보여 줘.</a:t>
            </a:r>
          </a:p>
          <a:p xmlns:a="http://schemas.openxmlformats.org/drawingml/2006/main">
            <a:r>
              <a:t>지원하지 않는 설정이면 가능한 방식과 차이를 알려 줘.</a:t>
            </a:r>
          </a:p>
          <a:p xmlns:a="http://schemas.openxmlformats.org/drawingml/2006/main">
            <a:r>
              <a:t>실행 후 결과와 실행 이력에서 성공 여부를 확인해 줘.</a:t>
            </a:r>
          </a:p>
          <a:p xmlns:a="http://schemas.openxmlformats.org/drawingml/2006/main">
            <a:r>
              <a:t>완료 여부가 불명확하면 중복 예약을 만들지 말고 상태를 확인해 줘.</a:t>
            </a:r>
          </a:p>
          <a:p xmlns:a="http://schemas.openxmlformats.org/drawingml/2006/main">
            <a:r>
              <a:t>실습이 끝나면 남아 있는 반복 예약이 없는지 보여 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76쪽 · 분할본 04의 14쪽.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07 예약 작업</a:t>
            </a:r>
          </a:p>
          <a:p xmlns:a="http://schemas.openxmlformats.org/drawingml/2006/main">
            <a:r>
              <a:t>[시간] 14:35–14:45 · 10분</a:t>
            </a:r>
          </a:p>
          <a:p xmlns:a="http://schemas.openxmlformats.org/drawingml/2006/main">
            <a:r>
              <a:t>정해진 재개 시각을 안내한다. 휴식은 설명 지연을 메우는 시간으로 사용하지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77쪽 · 분할본 04의 15쪽.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부록 · 필요할 때 찾아보기</a:t>
            </a:r>
          </a:p>
          <a:p xmlns:a="http://schemas.openxmlformats.org/drawingml/2006/main">
            <a:r>
              <a:t>[시간] 참고 자료</a:t>
            </a:r>
          </a:p>
          <a:p xmlns:a="http://schemas.openxmlformats.org/drawingml/2006/main">
            <a:r>
              <a:t>강사가 사전 테스트 계정 또는 참가자 본인 메일함에 예시를 준비하도록 한다. 본 제작 작업에서는 누구에게도 메일을 발송하지 않는다. 실제 일자가 지나면 교육일 이후 날짜로 교체한다.</a:t>
            </a:r>
          </a:p>
          <a:p xmlns:a="http://schemas.openxmlformats.org/drawingml/2006/main">
            <a:r>
              <a:t>[복사할 입력문]</a:t>
            </a:r>
          </a:p>
          <a:p xmlns:a="http://schemas.openxmlformats.org/drawingml/2006/main">
            <a:r>
              <a:t>제목: [교육실습] 운영회의 일정 조율</a:t>
            </a:r>
          </a:p>
          <a:p xmlns:a="http://schemas.openxmlformats.org/drawingml/2006/main">
            <a:r>
              <a:t>워크숍 운영안을 검토할 30분 회의를 잡아 주세요.</a:t>
            </a:r>
          </a:p>
          <a:p xmlns:a="http://schemas.openxmlformats.org/drawingml/2006/main">
            <a:r>
              <a:t>후보: 2026년 9월 14일 14:00–14:30,</a:t>
            </a:r>
          </a:p>
          <a:p xmlns:a="http://schemas.openxmlformats.org/drawingml/2006/main">
            <a:r>
              <a:t>또는 9월 15일 10:00–10:30, 한국 시간입니다.</a:t>
            </a:r>
          </a:p>
          <a:p xmlns:a="http://schemas.openxmlformats.org/drawingml/2006/main">
            <a:r>
              <a:t>교육 실습에서는 본인만 참석자로 등록해 주세요.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135쪽 · 분할본 04의 16쪽.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메일과 캘린더에서 업무 정리가 필요해.</a:t>
            </a:r>
          </a:p>
          <a:p xmlns:a="http://schemas.openxmlformats.org/drawingml/2006/main">
            <a:r>
              <a:t>한국 시간 기준 최근 7일 메일과 다음 7일 일정을 봐.</a:t>
            </a:r>
          </a:p>
          <a:p xmlns:a="http://schemas.openxmlformats.org/drawingml/2006/main">
            <a:r>
              <a:t>연결된 도구와 읽을 수 있는 범위를 먼저 알려 줘.</a:t>
            </a:r>
          </a:p>
          <a:p xmlns:a="http://schemas.openxmlformats.org/drawingml/2006/main">
            <a:r>
              <a:t>요청 / 회신 필요 / 일정 / 참고 메일로 분류해.</a:t>
            </a:r>
          </a:p>
          <a:p xmlns:a="http://schemas.openxmlformats.org/drawingml/2006/main">
            <a:r>
              <a:t>같은 대화의 변경·취소는 최신 메일을 우선 대조해.</a:t>
            </a:r>
          </a:p>
          <a:p xmlns:a="http://schemas.openxmlformats.org/drawingml/2006/main">
            <a:r>
              <a:t>할 일 / 담당 / 기한 / 근거 메일 표를 만들어 줘.</a:t>
            </a:r>
          </a:p>
          <a:p xmlns:a="http://schemas.openxmlformats.org/drawingml/2006/main">
            <a:r>
              <a:t>담당·기한이 없으면 미정으로 두고 추정하지 마.</a:t>
            </a:r>
          </a:p>
          <a:p xmlns:a="http://schemas.openxmlformats.org/drawingml/2006/main">
            <a:r>
              <a:t>후보 일정과 확정 일정, 겹치는 시간을 구분해.</a:t>
            </a:r>
          </a:p>
          <a:p xmlns:a="http://schemas.openxmlformats.org/drawingml/2006/main">
            <a:r>
              <a:t>오늘 우선 처리할 일 3개와 확인 질문을 제안해.</a:t>
            </a:r>
          </a:p>
          <a:p xmlns:a="http://schemas.openxmlformats.org/drawingml/2006/main">
            <a:r>
              <a:t>메일 발송·일정 등록은 하지 말고 정리만 보여 줘.</a:t>
            </a:r>
          </a:p>
          <a:p xmlns:a="http://schemas.openxmlformats.org/drawingml/2006/main">
            <a:r>
              <a:t>완료 기준: 요청·기한·일정 충돌·근거를 구분함</a:t>
            </a:r>
          </a:p>
          <a:p xmlns:a="http://schemas.openxmlformats.org/drawingml/2006/main">
            <a:r>
              <a:t>[편집 참고] 통합본 152쪽 · 분할본 04의 17쪽.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방금 확인한 메일·일정 분석을 HTML로 만들어 줘.</a:t>
            </a:r>
          </a:p>
          <a:p xmlns:a="http://schemas.openxmlformats.org/drawingml/2006/main">
            <a:r>
              <a:t>제목은 “내 업무 브리핑”, 조회 기간·작성일을 넣어.</a:t>
            </a:r>
          </a:p>
          <a:p xmlns:a="http://schemas.openxmlformats.org/drawingml/2006/main">
            <a:r>
              <a:t>구성은 오늘 할 일 / 회신 필요 / 일정 / 확인 질문이야.</a:t>
            </a:r>
          </a:p>
          <a:p xmlns:a="http://schemas.openxmlformats.org/drawingml/2006/main">
            <a:r>
              <a:t>할 일 표는 작업 / 담당 / 기한 / 상태 / 근거로 써.</a:t>
            </a:r>
          </a:p>
          <a:p xmlns:a="http://schemas.openxmlformats.org/drawingml/2006/main">
            <a:r>
              <a:t>변경된 일정과 중복·충돌 여부를 눈에 띄게 표시해.</a:t>
            </a:r>
          </a:p>
          <a:p xmlns:a="http://schemas.openxmlformats.org/drawingml/2006/main">
            <a:r>
              <a:t>실제 읽은 메일 제목·ID·링크만 근거로 사용해.</a:t>
            </a:r>
          </a:p>
          <a:p xmlns:a="http://schemas.openxmlformats.org/drawingml/2006/main">
            <a:r>
              <a:t>링크가 없으면 없는 상태로 두고 만들어 넣지 마.</a:t>
            </a:r>
          </a:p>
          <a:p xmlns:a="http://schemas.openxmlformats.org/drawingml/2006/main">
            <a:r>
              <a:t>외부 스크립트·추적·원문 전체는 포함하지 마.</a:t>
            </a:r>
          </a:p>
          <a:p xmlns:a="http://schemas.openxmlformats.org/drawingml/2006/main">
            <a:r>
              <a:t>02_결과/내업무_브리핑.html로 저장하고 열어 줘.</a:t>
            </a:r>
          </a:p>
          <a:p xmlns:a="http://schemas.openxmlformats.org/drawingml/2006/main">
            <a:r>
              <a:t>모바일·PC 표시와 기한·근거를 확인하고 공유는 대기해.</a:t>
            </a:r>
          </a:p>
          <a:p xmlns:a="http://schemas.openxmlformats.org/drawingml/2006/main">
            <a:r>
              <a:t>완료 기준: 근거와 할 일이 있는 HTML이 열림</a:t>
            </a:r>
          </a:p>
          <a:p xmlns:a="http://schemas.openxmlformats.org/drawingml/2006/main">
            <a:r>
              <a:t>[편집 참고] 통합본 153쪽 · 분할본 04의 18쪽.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매일 아침 9시에 AI 뉴스를 정리해서 받고 싶어.</a:t>
            </a:r>
          </a:p>
          <a:p xmlns:a="http://schemas.openxmlformats.org/drawingml/2006/main">
            <a:r>
              <a:t>한국 시간 기준으로 매일 실행해 줘.</a:t>
            </a:r>
          </a:p>
          <a:p xmlns:a="http://schemas.openxmlformats.org/drawingml/2006/main">
            <a:r>
              <a:t>실행 시점 직전 24시간의 중요한 AI 뉴스 5건을 골라.</a:t>
            </a:r>
          </a:p>
          <a:p xmlns:a="http://schemas.openxmlformats.org/drawingml/2006/main">
            <a:r>
              <a:t>공식 원문을 확인하고 중복·광고는 제외해.</a:t>
            </a:r>
          </a:p>
          <a:p xmlns:a="http://schemas.openxmlformats.org/drawingml/2006/main">
            <a:r>
              <a:t>제목·발표 시각·핵심·업무 영향·링크를 넣어 줘.</a:t>
            </a:r>
          </a:p>
          <a:p xmlns:a="http://schemas.openxmlformats.org/drawingml/2006/main">
            <a:r>
              <a:t>확인된 사실과 해석을 구분한 HTML로 만들어 줘.</a:t>
            </a:r>
          </a:p>
          <a:p xmlns:a="http://schemas.openxmlformats.org/drawingml/2006/main">
            <a:r>
              <a:t>파일 이름은 AI뉴스_실행날짜.html 형식으로 해.</a:t>
            </a:r>
          </a:p>
          <a:p xmlns:a="http://schemas.openxmlformats.org/drawingml/2006/main">
            <a:r>
              <a:t>내 알림에서 HTML을 열 수 있게 전달해 줘.</a:t>
            </a:r>
          </a:p>
          <a:p xmlns:a="http://schemas.openxmlformats.org/drawingml/2006/main">
            <a:r>
              <a:t>저장 전에 시간·결과 위치·PC 종료 시 동작을 알려 줘.</a:t>
            </a:r>
          </a:p>
          <a:p xmlns:a="http://schemas.openxmlformats.org/drawingml/2006/main">
            <a:r>
              <a:t>내가 확인하면 예약하고 다음 실행 시간을 보여 줘.</a:t>
            </a:r>
          </a:p>
          <a:p xmlns:a="http://schemas.openxmlformats.org/drawingml/2006/main">
            <a:r>
              <a:t>완료 기준: 매일 9시·한국 시간·HTML 결과가 설정됨</a:t>
            </a:r>
          </a:p>
          <a:p xmlns:a="http://schemas.openxmlformats.org/drawingml/2006/main">
            <a:r>
              <a:t>[편집 참고] 통합본 154쪽 · 분할본 04의 19쪽.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매일 예약 전에 5분 뒤 한 번만 시험하고 싶어.</a:t>
            </a:r>
          </a:p>
          <a:p xmlns:a="http://schemas.openxmlformats.org/drawingml/2006/main">
            <a:r>
              <a:t>작업 이름은 “AI 뉴스 HTML 예약 시험”으로 해.</a:t>
            </a:r>
          </a:p>
          <a:p xmlns:a="http://schemas.openxmlformats.org/drawingml/2006/main">
            <a:r>
              <a:t>최근 24시간의 AI 뉴스 최대 3건을 원문으로 확인해.</a:t>
            </a:r>
          </a:p>
          <a:p xmlns:a="http://schemas.openxmlformats.org/drawingml/2006/main">
            <a:r>
              <a:t>제목·발표일·요약·링크를 HTML로 만들어 줘.</a:t>
            </a:r>
          </a:p>
          <a:p xmlns:a="http://schemas.openxmlformats.org/drawingml/2006/main">
            <a:r>
              <a:t>내 알림에서 결과 파일을 열 수 있게 남겨 줘.</a:t>
            </a:r>
          </a:p>
          <a:p xmlns:a="http://schemas.openxmlformats.org/drawingml/2006/main">
            <a:r>
              <a:t>한국 시간, 반복 없는 1회 예약으로 준비해.</a:t>
            </a:r>
          </a:p>
          <a:p xmlns:a="http://schemas.openxmlformats.org/drawingml/2006/main">
            <a:r>
              <a:t>예정 시각·결과 위치·실행 환경을 먼저 보여 줘.</a:t>
            </a:r>
          </a:p>
          <a:p xmlns:a="http://schemas.openxmlformats.org/drawingml/2006/main">
            <a:r>
              <a:t>내가 확인한 뒤 저장하고, 실행 이력을 확인해 줘.</a:t>
            </a:r>
          </a:p>
          <a:p xmlns:a="http://schemas.openxmlformats.org/drawingml/2006/main">
            <a:r>
              <a:t>실행 여부가 불명확하면 예약을 중복 생성하지 마.</a:t>
            </a:r>
          </a:p>
          <a:p xmlns:a="http://schemas.openxmlformats.org/drawingml/2006/main">
            <a:r>
              <a:t>HTML이 열리면 시험 완료로 정리하고 반복은 남기지 마.</a:t>
            </a:r>
          </a:p>
          <a:p xmlns:a="http://schemas.openxmlformats.org/drawingml/2006/main">
            <a:r>
              <a:t>완료 기준: 1회 실행 결과 HTML과 종료 상태 확인</a:t>
            </a:r>
          </a:p>
          <a:p xmlns:a="http://schemas.openxmlformats.org/drawingml/2006/main">
            <a:r>
              <a:t>[편집 참고] 통합본 155쪽 · 분할본 04의 20쪽.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01_원본/메일_일정_원본.txt만 사용해 실습해 줘.</a:t>
            </a:r>
          </a:p>
          <a:p xmlns:a="http://schemas.openxmlformats.org/drawingml/2006/main">
            <a:r>
              <a:t>실제 내 메일과 캘린더는 지금 읽지 마.</a:t>
            </a:r>
          </a:p>
          <a:p xmlns:a="http://schemas.openxmlformats.org/drawingml/2006/main">
            <a:r>
              <a:t>메일 6개와 일정 3개를 읽고 요청을 분류해.</a:t>
            </a:r>
          </a:p>
          <a:p xmlns:a="http://schemas.openxmlformats.org/drawingml/2006/main">
            <a:r>
              <a:t>변경 메일 M006과 이전 메일 M002를 연결해.</a:t>
            </a:r>
          </a:p>
          <a:p xmlns:a="http://schemas.openxmlformats.org/drawingml/2006/main">
            <a:r>
              <a:t>취소된 후보와 최신 요청, 확정 일정을 구분해.</a:t>
            </a:r>
          </a:p>
          <a:p xmlns:a="http://schemas.openxmlformats.org/drawingml/2006/main">
            <a:r>
              <a:t>할 일 / 담당 / 기한 / 근거 ID 표를 만들어.</a:t>
            </a:r>
          </a:p>
          <a:p xmlns:a="http://schemas.openxmlformats.org/drawingml/2006/main">
            <a:r>
              <a:t>일정 충돌과 지금 확인할 질문을 찾아 줘.</a:t>
            </a:r>
          </a:p>
          <a:p xmlns:a="http://schemas.openxmlformats.org/drawingml/2006/main">
            <a:r>
              <a:t>02_결과/내업무_브리핑.html로 정리해 줘.</a:t>
            </a:r>
          </a:p>
          <a:p xmlns:a="http://schemas.openxmlformats.org/drawingml/2006/main">
            <a:r>
              <a:t>기준일은 2026-09-14로 표시하고 날짜를 바꾸지 마.</a:t>
            </a:r>
          </a:p>
          <a:p xmlns:a="http://schemas.openxmlformats.org/drawingml/2006/main">
            <a:r>
              <a:t>HTML을 열어 확인하고 발송·등록은 실행하지 마.</a:t>
            </a:r>
          </a:p>
          <a:p xmlns:a="http://schemas.openxmlformats.org/drawingml/2006/main">
            <a:r>
              <a:t>완료 기준: 교육 메일 6개와 일정 3개의 정리 결과</a:t>
            </a:r>
          </a:p>
          <a:p xmlns:a="http://schemas.openxmlformats.org/drawingml/2006/main">
            <a:r>
              <a:t>[편집 참고] 통합본 140쪽 · 분할본 04의 21쪽.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a31d39cba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2028aafc6455c" /><Relationship Type="http://schemas.openxmlformats.org/officeDocument/2006/relationships/slideLayout" Target="/ppt/slideLayouts/slideLayout1.xml" Id="Rb0e852df97f34c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e852df97f34c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e4b1b3a734109" /><Relationship Type="http://schemas.openxmlformats.org/officeDocument/2006/relationships/image" Target="/ppt/media/image.png" Id="Rf62c5e51d39d4d98" /><Relationship Type="http://schemas.openxmlformats.org/officeDocument/2006/relationships/image" Target="/ppt/media/image2.png" Id="R35968ea2fdba431c" /><Relationship Type="http://schemas.openxmlformats.org/officeDocument/2006/relationships/image" Target="/ppt/media/image3.png" Id="R7e46f9d11f6e4ade" /><Relationship Type="http://schemas.openxmlformats.org/officeDocument/2006/relationships/image" Target="/ppt/media/image4.png" Id="R8abcc720e444451a" /><Relationship Type="http://schemas.openxmlformats.org/officeDocument/2006/relationships/notesSlide" Target="/ppt/notesSlides/notesSlide1.xml" Id="R4e8701917ba7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5c90f55a14c4a" /><Relationship Type="http://schemas.openxmlformats.org/officeDocument/2006/relationships/image" Target="/ppt/media/image5.png" Id="R0920bbf1d93647d6" /><Relationship Type="http://schemas.openxmlformats.org/officeDocument/2006/relationships/notesSlide" Target="/ppt/notesSlides/notesSlide2.xml" Id="Rf52ed7978f76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37c4beb8f495c" /><Relationship Type="http://schemas.openxmlformats.org/officeDocument/2006/relationships/image" Target="/ppt/media/image6.png" Id="R95266dee37114380" /><Relationship Type="http://schemas.openxmlformats.org/officeDocument/2006/relationships/notesSlide" Target="/ppt/notesSlides/notesSlide3.xml" Id="R56f4ad1c18d040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26a05a9c2494e" /><Relationship Type="http://schemas.openxmlformats.org/officeDocument/2006/relationships/image" Target="/ppt/media/image7.png" Id="Ra46ce0c879dd47ba" /><Relationship Type="http://schemas.openxmlformats.org/officeDocument/2006/relationships/notesSlide" Target="/ppt/notesSlides/notesSlide4.xml" Id="R5b8bf8b3d99f43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dd2b41dfe4805" /><Relationship Type="http://schemas.openxmlformats.org/officeDocument/2006/relationships/image" Target="/ppt/media/image8.png" Id="R9d65b0e8ba344095" /><Relationship Type="http://schemas.openxmlformats.org/officeDocument/2006/relationships/notesSlide" Target="/ppt/notesSlides/notesSlide5.xml" Id="R2d8d49796e75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8ce7edbe84e77" /><Relationship Type="http://schemas.openxmlformats.org/officeDocument/2006/relationships/image" Target="/ppt/media/image9.png" Id="R7580d105157a40ae" /><Relationship Type="http://schemas.openxmlformats.org/officeDocument/2006/relationships/notesSlide" Target="/ppt/notesSlides/notesSlide6.xml" Id="R72495a300ef347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306d68d414b82" /><Relationship Type="http://schemas.openxmlformats.org/officeDocument/2006/relationships/image" Target="/ppt/media/image10.png" Id="R9fb6338455c349a1" /><Relationship Type="http://schemas.openxmlformats.org/officeDocument/2006/relationships/image" Target="/ppt/media/image11.png" Id="Rd9dad225f30c4108" /><Relationship Type="http://schemas.openxmlformats.org/officeDocument/2006/relationships/image" Target="/ppt/media/image12.png" Id="R2ac8d1a8ac7b4894" /><Relationship Type="http://schemas.openxmlformats.org/officeDocument/2006/relationships/image" Target="/ppt/media/image13.png" Id="Rfc5e60f43a794c08" /><Relationship Type="http://schemas.openxmlformats.org/officeDocument/2006/relationships/notesSlide" Target="/ppt/notesSlides/notesSlide7.xml" Id="R5fa9cfac131f4f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2c551d64d4a40" /><Relationship Type="http://schemas.openxmlformats.org/officeDocument/2006/relationships/image" Target="/ppt/media/image14.png" Id="R4315271443d94227" /><Relationship Type="http://schemas.openxmlformats.org/officeDocument/2006/relationships/image" Target="/ppt/media/image15.png" Id="Rb5a753f8cba045ea" /><Relationship Type="http://schemas.openxmlformats.org/officeDocument/2006/relationships/notesSlide" Target="/ppt/notesSlides/notesSlide8.xml" Id="Re7a93fdb73f3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96c72cefe4e4a" /><Relationship Type="http://schemas.openxmlformats.org/officeDocument/2006/relationships/notesSlide" Target="/ppt/notesSlides/notesSlide9.xml" Id="Rf913a22a7c3e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e72eb22f4a6f" /><Relationship Type="http://schemas.openxmlformats.org/officeDocument/2006/relationships/image" Target="/ppt/media/image16.png" Id="R5bbc849ab2f54140" /><Relationship Type="http://schemas.openxmlformats.org/officeDocument/2006/relationships/notesSlide" Target="/ppt/notesSlides/notesSlide10.xml" Id="R858bc65b90d849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6001ceeff47d6" /><Relationship Type="http://schemas.openxmlformats.org/officeDocument/2006/relationships/image" Target="/ppt/media/image17.png" Id="R05055a3b016d447c" /><Relationship Type="http://schemas.openxmlformats.org/officeDocument/2006/relationships/notesSlide" Target="/ppt/notesSlides/notesSlide11.xml" Id="R5312cd7c9ec041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a10c12221408e" /><Relationship Type="http://schemas.openxmlformats.org/officeDocument/2006/relationships/image" Target="/ppt/media/image18.png" Id="R3c64d16f3cb04e63" /><Relationship Type="http://schemas.openxmlformats.org/officeDocument/2006/relationships/notesSlide" Target="/ppt/notesSlides/notesSlide12.xml" Id="R9cf7d25ebfbf41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f2c8636d842f5" /><Relationship Type="http://schemas.openxmlformats.org/officeDocument/2006/relationships/image" Target="/ppt/media/image19.png" Id="R860a19d127264273" /><Relationship Type="http://schemas.openxmlformats.org/officeDocument/2006/relationships/image" Target="/ppt/media/image20.png" Id="Rb247675907eb445a" /><Relationship Type="http://schemas.openxmlformats.org/officeDocument/2006/relationships/notesSlide" Target="/ppt/notesSlides/notesSlide13.xml" Id="R489d63a0975943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fd701f894f74" /><Relationship Type="http://schemas.openxmlformats.org/officeDocument/2006/relationships/notesSlide" Target="/ppt/notesSlides/notesSlide14.xml" Id="Rb189a25e8e94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d4b10108047b8" /><Relationship Type="http://schemas.openxmlformats.org/officeDocument/2006/relationships/notesSlide" Target="/ppt/notesSlides/notesSlide15.xml" Id="R6ea4072fb6af4e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d6a2002b4602" /><Relationship Type="http://schemas.openxmlformats.org/officeDocument/2006/relationships/image" Target="/ppt/media/image21.png" Id="Rb1e6dc7dbf874654" /><Relationship Type="http://schemas.openxmlformats.org/officeDocument/2006/relationships/notesSlide" Target="/ppt/notesSlides/notesSlide16.xml" Id="Rf964c9ff8f6c41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b208eeede4c57" /><Relationship Type="http://schemas.openxmlformats.org/officeDocument/2006/relationships/image" Target="/ppt/media/image22.png" Id="R7774c306d36d4702" /><Relationship Type="http://schemas.openxmlformats.org/officeDocument/2006/relationships/notesSlide" Target="/ppt/notesSlides/notesSlide17.xml" Id="R1df59ac34be440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61697c6e44a4f" /><Relationship Type="http://schemas.openxmlformats.org/officeDocument/2006/relationships/image" Target="/ppt/media/image23.png" Id="Rcec8b5e677bb463f" /><Relationship Type="http://schemas.openxmlformats.org/officeDocument/2006/relationships/notesSlide" Target="/ppt/notesSlides/notesSlide18.xml" Id="Rc97c4c64b8524b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df06949e43cd" /><Relationship Type="http://schemas.openxmlformats.org/officeDocument/2006/relationships/image" Target="/ppt/media/image24.png" Id="R9cc8ddca0d7d4db9" /><Relationship Type="http://schemas.openxmlformats.org/officeDocument/2006/relationships/notesSlide" Target="/ppt/notesSlides/notesSlide19.xml" Id="R026fb2dad8b945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640d52104a0e" /><Relationship Type="http://schemas.openxmlformats.org/officeDocument/2006/relationships/image" Target="/ppt/media/image25.png" Id="Ra947aa442f354e29" /><Relationship Type="http://schemas.openxmlformats.org/officeDocument/2006/relationships/notesSlide" Target="/ppt/notesSlides/notesSlide20.xml" Id="R26f8644c29824a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6675ab2354769" /><Relationship Type="http://schemas.openxmlformats.org/officeDocument/2006/relationships/image" Target="/ppt/media/image26.png" Id="R6427f5e6dc8442ad" /><Relationship Type="http://schemas.openxmlformats.org/officeDocument/2006/relationships/notesSlide" Target="/ppt/notesSlides/notesSlide21.xml" Id="Rff1a71775e2541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E1D37E3E-2E68-45DA-98C4-90523F1E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BE110C62-E946-4563-AA86-70D5FEA3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13:35–14:15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FC4C48-5369-4925-A920-85A7CD00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메일과 일정을 한 장의 업무 브리핑으로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B604122-4343-4D50-AAEF-3E58523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CB5F8D5-3129-43F6-945D-62C39517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D26E356-FB4C-4618-A90B-184B2A5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39E43B-F3F9-46CD-ADB6-EB3CFD8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item-number-0">
            <a:extLst xmlns:a="http://schemas.openxmlformats.org/drawingml/2006/main">
              <a:ext uri="{FF2B5EF4-FFF2-40B4-BE49-F238E27FC236}">
                <a16:creationId xmlns:a16="http://schemas.microsoft.com/office/drawing/2014/main" id="{13F27355-72CE-44BA-B3A1-7B1BF1E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370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9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8A38A7DA-128A-4B23-A901-C7FBED0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370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 분류</a:t>
            </a:r>
          </a:p>
        </p:txBody>
      </p:sp>
      <p:sp>
        <p:nvSpPr>
          <p:cNvPr id="10" name="item-body-0">
            <a:extLst xmlns:a="http://schemas.openxmlformats.org/drawingml/2006/main">
              <a:ext uri="{FF2B5EF4-FFF2-40B4-BE49-F238E27FC236}">
                <a16:creationId xmlns:a16="http://schemas.microsoft.com/office/drawing/2014/main" id="{21B82128-D8D9-4450-BC67-8A0C57D5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355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요청·회신·변경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근거 확인</a:t>
            </a:r>
          </a:p>
        </p:txBody>
      </p:sp>
      <p:sp>
        <p:nvSpPr>
          <p:cNvPr id="11" name="item-number-1">
            <a:extLst xmlns:a="http://schemas.openxmlformats.org/drawingml/2006/main">
              <a:ext uri="{FF2B5EF4-FFF2-40B4-BE49-F238E27FC236}">
                <a16:creationId xmlns:a16="http://schemas.microsoft.com/office/drawing/2014/main" id="{BA0BABCC-1915-4613-B0E6-75428B7A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610100"/>
            <a:ext cx="370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26226D25-8D67-44CF-9E79-F372357D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981575"/>
            <a:ext cx="370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일정 대조</a:t>
            </a:r>
          </a:p>
        </p:txBody>
      </p:sp>
      <p:sp>
        <p:nvSpPr>
          <p:cNvPr id="13" name="item-body-1">
            <a:extLst xmlns:a="http://schemas.openxmlformats.org/drawingml/2006/main">
              <a:ext uri="{FF2B5EF4-FFF2-40B4-BE49-F238E27FC236}">
                <a16:creationId xmlns:a16="http://schemas.microsoft.com/office/drawing/2014/main" id="{48442983-33E0-420B-AF44-E8CE7F7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514975"/>
            <a:ext cx="355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후보·확정·충돌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변경 반영</a:t>
            </a:r>
          </a:p>
        </p:txBody>
      </p:sp>
      <p:sp>
        <p:nvSpPr>
          <p:cNvPr id="14" name="item-number-2">
            <a:extLst xmlns:a="http://schemas.openxmlformats.org/drawingml/2006/main">
              <a:ext uri="{FF2B5EF4-FFF2-40B4-BE49-F238E27FC236}">
                <a16:creationId xmlns:a16="http://schemas.microsoft.com/office/drawing/2014/main" id="{28CEC3A2-38BE-4423-9D14-C785B63F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610100"/>
            <a:ext cx="370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DBA78852-44EE-4911-BEAF-030B4E6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981575"/>
            <a:ext cx="370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HTML 정리</a:t>
            </a:r>
          </a:p>
        </p:txBody>
      </p:sp>
      <p:sp>
        <p:nvSpPr>
          <p:cNvPr id="16" name="item-body-2">
            <a:extLst xmlns:a="http://schemas.openxmlformats.org/drawingml/2006/main">
              <a:ext uri="{FF2B5EF4-FFF2-40B4-BE49-F238E27FC236}">
                <a16:creationId xmlns:a16="http://schemas.microsoft.com/office/drawing/2014/main" id="{BA3A5E06-AD54-447A-8BAD-6AC8CCE3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5514975"/>
            <a:ext cx="355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할 일·기한·근거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한눈에 보기</a:t>
            </a:r>
          </a:p>
        </p:txBody>
      </p:sp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36C873CF-5F56-40BD-A4E4-83B56CA4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c5e51d39d4d98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03A57B0-D876-4B53-AD26-61946C52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3152775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7E0E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D7E0E9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7EE29A4-D2F4-43C6-9AFC-331A5D1B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152775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7E0E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D7E0E9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68ea2fdba431c"/>
          <a:stretch xmlns:a="http://schemas.openxmlformats.org/drawingml/2006/main"/>
        </p:blipFill>
        <p:spPr>
          <a:xfrm xmlns:a="http://schemas.openxmlformats.org/drawingml/2006/main">
            <a:off x="1025525" y="1866900"/>
            <a:ext cx="2724150" cy="27241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6f9d11f6e4ade"/>
          <a:stretch xmlns:a="http://schemas.openxmlformats.org/drawingml/2006/main"/>
        </p:blipFill>
        <p:spPr>
          <a:xfrm xmlns:a="http://schemas.openxmlformats.org/drawingml/2006/main">
            <a:off x="4733925" y="1866900"/>
            <a:ext cx="2724150" cy="27241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cc720e444451a"/>
          <a:stretch xmlns:a="http://schemas.openxmlformats.org/drawingml/2006/main"/>
        </p:blipFill>
        <p:spPr>
          <a:xfrm xmlns:a="http://schemas.openxmlformats.org/drawingml/2006/main">
            <a:off x="8442325" y="1866900"/>
            <a:ext cx="2724150" cy="2724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06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DAA2B491-F38E-4D9E-9720-28B4EF7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C3719D35-0C00-4859-85BD-6767C40A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13:35–14:15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34146D-66C3-4AAE-AE30-B5103130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메일·일정에서 액션 아이템을 뽑습니다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0080ADE-3725-444C-AE3D-E557B2C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A503985-A9DA-4638-9AA0-2E42A8F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CC8D5A9-9A84-4383-AD67-1C550B3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85C9BB-40B2-483F-8433-36446E1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6FF40FF6-73A2-45D5-A84E-640B7D9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상세 원문  P13 17쪽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D5FD170C-5639-464D-9A09-50E7FD71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524125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EDEEB7D7-68C0-4FB8-8863-DEC53C29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최근 7일 메일과 다음 7일 일정을 분석해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요청·회신 필요·일정·참고를 구분하고,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할 일·담당·기한·근거를 표로 정리해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변경·취소·충돌은 원래 메일과 대조해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246C32B5-46CE-4991-BE4C-86AB1495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결과 확인  액션 아이템·최신 변경·일정 충돌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31B96E8D-864B-4464-B35B-1E81E5F7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0bbf1d93647d6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53ECF7-F27C-4A07-BE66-763BF924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후보·확정·변경 일정을 구분합니다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0F452FB-46AA-4288-8084-EB19D386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83D5CD8-03BE-4E08-A040-1281BC0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BDD728-24CC-47B6-96EC-E1FF6FA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06 메일·일정 업무 정리  |  P13 17쪽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0DF425-5708-4187-AD23-01BCCC07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66dee37114380"/>
          <a:stretch xmlns:a="http://schemas.openxmlformats.org/drawingml/2006/main"/>
        </p:blipFill>
        <p:spPr>
          <a:xfrm xmlns:a="http://schemas.openxmlformats.org/drawingml/2006/main">
            <a:off x="1297951" y="990600"/>
            <a:ext cx="9596098" cy="5400675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223C1741-61F2-4585-8EAE-0B24116C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78732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6 화면 · 메일과 일정을 함께 대조합니다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06 메일·일정 업무 정리  |  P13 17쪽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ce0c879dd47ba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C56934BB-CA11-4266-B36F-CAE49D5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요청과 기한   ② 변경 메일   ③ 기존 일정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C07919F5-2AAD-4CDC-96BC-27C6E2C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27E1E86-4D63-4DA3-9BED-609D722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13:35–14:15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4443A-76CF-47E6-8B1E-2EA941C1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분석 결과를 HTML 업무 브리핑으로 만듭니다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236DECF-B05A-4454-8F23-6694F1F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FBD3E15-C73B-4AE5-AD82-85C91F0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FE0D0DD-CBAC-4485-B919-EBAAFD85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2B2B74-F03A-4BA1-B4DB-B3D55F4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9E7B285E-6A1D-4236-B609-47F191F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상세 원문  P14 18쪽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1A880C9D-0055-4AC1-A5E3-95A4363D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524125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CC5B997-A0BA-4418-BA46-A61045B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방금 정리한 메일·일정 결과를 HTML로 만들어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오늘 할 일·회신 필요·일정·확인 질문으로 나누고,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각 항목에 담당·기한·근거를 붙여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내업무_브리핑.html로 저장한 뒤 열어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5B082D3C-BCF3-49CD-A839-CE0AE598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결과 확인  조회 기간·기한·근거가 보이는 HTML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EB959287-7711-47CB-A21C-26E685C9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5b0e8ba344095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12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6 화면 · 할 일과 근거가 있는 HTML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06 메일·일정 업무 정리  |  P14 18쪽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0d105157a40ae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F5654DA4-C9B1-40B1-BD53-6D287B18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오늘 우선순위   ② 기한과 상태   ③ 근거 ID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FD926B14-F7F1-4A75-82CE-79E4F2DE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964E126E-1C3A-4C57-9E76-64FB2C4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13:35–14:15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FA50A-3777-4325-A036-D16A7422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정리 결과와 원문을 다시 대조합니다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C98EC0B-956B-4449-A901-236D8EE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1E7C645-727C-4820-B2FD-BB1D1BF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DF1401F-7002-4CB9-BA25-F2DFB2B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3A4993-97E4-41E3-A6FB-9696762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8" name="item-number-0">
            <a:extLst xmlns:a="http://schemas.openxmlformats.org/drawingml/2006/main">
              <a:ext uri="{FF2B5EF4-FFF2-40B4-BE49-F238E27FC236}">
                <a16:creationId xmlns:a16="http://schemas.microsoft.com/office/drawing/2014/main" id="{D869081A-0017-42F2-A643-F986F848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9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B7C23616-B219-4FD3-B8F0-7396B50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 요청</a:t>
            </a:r>
          </a:p>
        </p:txBody>
      </p:sp>
      <p:sp>
        <p:nvSpPr>
          <p:cNvPr id="10" name="item-body-0">
            <a:extLst xmlns:a="http://schemas.openxmlformats.org/drawingml/2006/main">
              <a:ext uri="{FF2B5EF4-FFF2-40B4-BE49-F238E27FC236}">
                <a16:creationId xmlns:a16="http://schemas.microsoft.com/office/drawing/2014/main" id="{956C6954-88B8-44AD-9BBD-D404F7F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회신 필요·최신 변경·취소가 반영되었나요?</a:t>
            </a:r>
          </a:p>
        </p:txBody>
      </p:sp>
      <p:sp>
        <p:nvSpPr>
          <p:cNvPr id="11" name="item-number-1">
            <a:extLst xmlns:a="http://schemas.openxmlformats.org/drawingml/2006/main">
              <a:ext uri="{FF2B5EF4-FFF2-40B4-BE49-F238E27FC236}">
                <a16:creationId xmlns:a16="http://schemas.microsoft.com/office/drawing/2014/main" id="{B7F1084F-0689-4A45-8768-A4DBE67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8CFB85C7-45A5-4A23-A9EA-16CD1B67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일정 조건</a:t>
            </a:r>
          </a:p>
        </p:txBody>
      </p:sp>
      <p:sp>
        <p:nvSpPr>
          <p:cNvPr id="13" name="item-body-1">
            <a:extLst xmlns:a="http://schemas.openxmlformats.org/drawingml/2006/main">
              <a:ext uri="{FF2B5EF4-FFF2-40B4-BE49-F238E27FC236}">
                <a16:creationId xmlns:a16="http://schemas.microsoft.com/office/drawing/2014/main" id="{849FBD01-7DA9-47A1-85D6-806412E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후보와 확정, 겹치는 시간이 구분되었나요?</a:t>
            </a:r>
          </a:p>
        </p:txBody>
      </p:sp>
      <p:sp>
        <p:nvSpPr>
          <p:cNvPr id="14" name="item-number-2">
            <a:extLst xmlns:a="http://schemas.openxmlformats.org/drawingml/2006/main">
              <a:ext uri="{FF2B5EF4-FFF2-40B4-BE49-F238E27FC236}">
                <a16:creationId xmlns:a16="http://schemas.microsoft.com/office/drawing/2014/main" id="{A94FE00F-A3D7-4DCE-A431-CE62378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33142098-9D77-4EC2-BD7D-CC0C28DB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HTML 결과</a:t>
            </a:r>
          </a:p>
        </p:txBody>
      </p:sp>
      <p:sp>
        <p:nvSpPr>
          <p:cNvPr id="16" name="item-body-2">
            <a:extLst xmlns:a="http://schemas.openxmlformats.org/drawingml/2006/main">
              <a:ext uri="{FF2B5EF4-FFF2-40B4-BE49-F238E27FC236}">
                <a16:creationId xmlns:a16="http://schemas.microsoft.com/office/drawing/2014/main" id="{42AF81A2-B7F0-4EA8-A14D-D7E0062C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조회 기간·담당·기한·근거를 확인할 수 있나요?</a:t>
            </a:r>
          </a:p>
        </p:txBody>
      </p:sp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335F1065-E64E-4A5A-9267-4A537565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6338455c349a1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ad225f30c4108"/>
          <a:stretch xmlns:a="http://schemas.openxmlformats.org/drawingml/2006/main"/>
        </p:blipFill>
        <p:spPr>
          <a:xfrm xmlns:a="http://schemas.openxmlformats.org/drawingml/2006/main">
            <a:off x="533400" y="2028825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8d1a8ac7b4894"/>
          <a:stretch xmlns:a="http://schemas.openxmlformats.org/drawingml/2006/main"/>
        </p:blipFill>
        <p:spPr>
          <a:xfrm xmlns:a="http://schemas.openxmlformats.org/drawingml/2006/main">
            <a:off x="533400" y="3209925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e60f43a794c08"/>
          <a:stretch xmlns:a="http://schemas.openxmlformats.org/drawingml/2006/main"/>
        </p:blipFill>
        <p:spPr>
          <a:xfrm xmlns:a="http://schemas.openxmlformats.org/drawingml/2006/main">
            <a:off x="560781" y="4391025"/>
            <a:ext cx="592938" cy="64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8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EC721852-BBEB-4950-88BD-63FD39B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349C00D2-6446-418D-9157-3687F54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직접 해보기 · 22분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847F0F-6161-46E5-97A8-0E2DB71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6. 내 업무를 HTML로 정리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20BB481-8E35-413A-8BC8-A3B81988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0524216-1314-4EAE-A0F8-D4B065D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3C5A63A-A30D-44D4-ADEF-556C66A9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ED73E2-A0C2-47E5-88B7-BC97FAFC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8" name="lab-minutes">
            <a:extLst xmlns:a="http://schemas.openxmlformats.org/drawingml/2006/main">
              <a:ext uri="{FF2B5EF4-FFF2-40B4-BE49-F238E27FC236}">
                <a16:creationId xmlns:a16="http://schemas.microsoft.com/office/drawing/2014/main" id="{27D31F6A-7B83-4533-9689-32B9095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47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sp>
        <p:nvSpPr>
          <p:cNvPr id="9" name="lab-label">
            <a:extLst xmlns:a="http://schemas.openxmlformats.org/drawingml/2006/main">
              <a:ext uri="{FF2B5EF4-FFF2-40B4-BE49-F238E27FC236}">
                <a16:creationId xmlns:a16="http://schemas.microsoft.com/office/drawing/2014/main" id="{C3E9E4B5-3F58-4108-9D3A-FADE2E8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분 실습</a:t>
            </a:r>
          </a:p>
        </p:txBody>
      </p:sp>
      <p:sp>
        <p:nvSpPr>
          <p:cNvPr id="10" name="lab-goal">
            <a:extLst xmlns:a="http://schemas.openxmlformats.org/drawingml/2006/main">
              <a:ext uri="{FF2B5EF4-FFF2-40B4-BE49-F238E27FC236}">
                <a16:creationId xmlns:a16="http://schemas.microsoft.com/office/drawing/2014/main" id="{2CB56894-E278-411A-B9C0-4B1B754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메일·일정에서 할 일을 추려 HTML로 만듭니다.</a:t>
            </a:r>
          </a:p>
        </p:txBody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E27ACE9-E198-4386-A839-7037199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2" name="lab-step-0">
            <a:extLst xmlns:a="http://schemas.openxmlformats.org/drawingml/2006/main">
              <a:ext uri="{FF2B5EF4-FFF2-40B4-BE49-F238E27FC236}">
                <a16:creationId xmlns:a16="http://schemas.microsoft.com/office/drawing/2014/main" id="{018554A4-9F65-47AE-937C-22DC7EB8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6분 · 메일 6개·일정 3개의 요청과 변경 읽기</a:t>
            </a:r>
          </a:p>
        </p:txBody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4ACE116-F026-447E-A779-BA638334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lab-step-1">
            <a:extLst xmlns:a="http://schemas.openxmlformats.org/drawingml/2006/main">
              <a:ext uri="{FF2B5EF4-FFF2-40B4-BE49-F238E27FC236}">
                <a16:creationId xmlns:a16="http://schemas.microsoft.com/office/drawing/2014/main" id="{2C25966A-5030-495B-8A9D-3D70D37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8분 · 액션 아이템·기한·일정 충돌 정리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528CC10-7136-4529-ADF2-3748B58E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lab-step-2">
            <a:extLst xmlns:a="http://schemas.openxmlformats.org/drawingml/2006/main">
              <a:ext uri="{FF2B5EF4-FFF2-40B4-BE49-F238E27FC236}">
                <a16:creationId xmlns:a16="http://schemas.microsoft.com/office/drawing/2014/main" id="{05B40450-8805-4966-A8B9-DF86E157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8분 · HTML 작성, 근거와 표시 상태 확인</a:t>
            </a:r>
          </a:p>
        </p:txBody>
      </p:sp>
      <p:sp>
        <p:nvSpPr>
          <p:cNvPr id="17" name="completion-background">
            <a:extLst xmlns:a="http://schemas.openxmlformats.org/drawingml/2006/main">
              <a:ext uri="{FF2B5EF4-FFF2-40B4-BE49-F238E27FC236}">
                <a16:creationId xmlns:a16="http://schemas.microsoft.com/office/drawing/2014/main" id="{28B206A2-56F5-4FFA-B206-5395EA1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8" name="completion">
            <a:extLst xmlns:a="http://schemas.openxmlformats.org/drawingml/2006/main">
              <a:ext uri="{FF2B5EF4-FFF2-40B4-BE49-F238E27FC236}">
                <a16:creationId xmlns:a16="http://schemas.microsoft.com/office/drawing/2014/main" id="{E5A47360-C7F8-4D94-81A9-997C076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 할 일·변경 일정·근거가 있는 HTML</a:t>
            </a:r>
          </a:p>
        </p:txBody>
      </p:sp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AA4845-4903-412C-9DD6-63D784F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5271443d94227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753f8cba045ea"/>
          <a:stretch xmlns:a="http://schemas.openxmlformats.org/drawingml/2006/main"/>
        </p:blipFill>
        <p:spPr>
          <a:xfrm xmlns:a="http://schemas.openxmlformats.org/drawingml/2006/main">
            <a:off x="819150" y="412432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78D35267-C4B9-441C-95D0-88CD8818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P13 17쪽 · P14 18쪽 · MAIL01 21쪽</a:t>
            </a:r>
          </a:p>
        </p:txBody>
      </p:sp>
    </p:spTree>
    <p:extLst>
      <p:ext uri="{BB962C8B-B14F-4D97-AF65-F5344CB8AC3E}">
        <p14:creationId xmlns:p14="http://schemas.microsoft.com/office/powerpoint/2010/main" val="1224196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5CFA8FEC-1DCC-4E51-9E0B-F4993528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메일·일정 업무 정리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3992917F-5302-4457-B666-EF0E484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5분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FFDA68-A5CD-4D87-9CFE-05508B95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3B2D385-E580-49E4-A606-FA5B4E3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5429642-7D92-4968-8404-64150AD9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81359B-2048-4F64-A74B-832EE4D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22FB9B-BD15-473C-8D1F-628787DB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D5EC03FD-EE5D-4978-B904-98E0270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5분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6177C16D-2215-4FBC-9177-703982BF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BDC66C5E-53D8-40F1-98AD-BB21184D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B37CA3A4-85AF-4518-94BF-EF157C6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일정 등록 응답이 멈추면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바로 한 번 더 눌러도 될까요?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32157AF1-A597-400D-B9D3-688E3D2D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40D8B5FE-CF98-4972-BEF9-CB13BA8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초안의 금액과 결재선은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누가 최종 확인하나요?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0F9424AF-697C-45FC-99D8-D4711F1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조회·초안·등록·상신을 구분할 수 있으면 완료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5C183594-DC91-46AD-B204-EA02582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4872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F17424BE-D21F-4FE3-BEE2-3124719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07 예약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EDF5EDA5-07C3-4974-825D-0678882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14:15–14:35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921085-03AC-4521-BF53-DE3B84E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자연어로 매일 아침 9시 브리핑을 예약합니다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3795DB3-0005-4A4D-8331-F24BC27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99D2E0A-7C8A-4B7F-BFD9-BA4CC7C6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34A5B7B-E9BE-48AA-B3E0-B335F33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413A79-7431-4A56-971B-5B40032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CF82EBF-376B-4A81-99E7-6BBC6B7B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상세 원문  P15 19쪽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B62B5DF7-8F55-4BE9-AF86-91AB145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524125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55DCE9D4-16A3-4D79-909E-0A28536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매일 아침 9시, 한국 시간으로 AI 뉴스를 정리해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최근 24시간의 공식 뉴스 5건을 골라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요약·업무 영향·원문 링크가 있는 HTML로 만들고,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 알림에서 결과를 열 수 있게 전달해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3635D3F4-E2B6-4A6F-9B44-D06CD5B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결과 확인  매일 9시·한국 시간·HTML 결과 위치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E89C501B-B40B-468C-A6AB-903A483F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c849ab2f54140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85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401B27-22A1-454D-ABAC-A10CF6A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저장한 시간과 결과 위치를 확인합니다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76055B5-058C-42FF-8161-2CFE46C1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A6C0AA0-ABC6-4C1E-94AB-0543ED8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0514FD5-3891-403D-9CA7-02829A6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07 예약 작업  |  P15 19쪽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E9CFD8-8959-495D-B426-A0DDF6A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55a3b016d447c"/>
          <a:stretch xmlns:a="http://schemas.openxmlformats.org/drawingml/2006/main"/>
        </p:blipFill>
        <p:spPr>
          <a:xfrm xmlns:a="http://schemas.openxmlformats.org/drawingml/2006/main">
            <a:off x="1297951" y="990600"/>
            <a:ext cx="9596098" cy="5400675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3242BC1-691F-4941-BC0B-D7A7A9F4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77181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7 화면 · 시간과 HTML 결과를 확인합니다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07 예약 작업  |  P15 19쪽 · P16 20쪽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4d16f3cb04e63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5E97937E-AB15-4A04-93C0-6961E3F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매일 오전 9시   ② 한국 시간   ③ HTML 받기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54E139CE-8DF4-4FD8-8297-9586308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07 예약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1ECE490D-D163-4C34-A10A-A504C8B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직접 해보기 · 10분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5E1303-6B2F-4557-A8A2-42B7E11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7. 뉴스 HTML을 한 번 받아 보기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C111740-4090-4F59-A5FB-FD1140F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F559D74-3FB9-4DD6-962A-45F4068D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1A5D29B-AC37-464B-8A02-B6BE1FD5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D81B11-CAFA-4C33-BCBA-775DEFA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8" name="lab-minutes">
            <a:extLst xmlns:a="http://schemas.openxmlformats.org/drawingml/2006/main">
              <a:ext uri="{FF2B5EF4-FFF2-40B4-BE49-F238E27FC236}">
                <a16:creationId xmlns:a16="http://schemas.microsoft.com/office/drawing/2014/main" id="{D1314034-BB0A-46F2-8867-C239401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47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9" name="lab-label">
            <a:extLst xmlns:a="http://schemas.openxmlformats.org/drawingml/2006/main">
              <a:ext uri="{FF2B5EF4-FFF2-40B4-BE49-F238E27FC236}">
                <a16:creationId xmlns:a16="http://schemas.microsoft.com/office/drawing/2014/main" id="{A924C8EE-4A20-47B2-A10E-D406D0DE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분 실습</a:t>
            </a:r>
          </a:p>
        </p:txBody>
      </p:sp>
      <p:sp>
        <p:nvSpPr>
          <p:cNvPr id="10" name="lab-goal">
            <a:extLst xmlns:a="http://schemas.openxmlformats.org/drawingml/2006/main">
              <a:ext uri="{FF2B5EF4-FFF2-40B4-BE49-F238E27FC236}">
                <a16:creationId xmlns:a16="http://schemas.microsoft.com/office/drawing/2014/main" id="{39FFADAE-9488-40D2-AB29-D08EC5CB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자연어로 예약하고 HTML 결과를 확인합니다.</a:t>
            </a:r>
          </a:p>
        </p:txBody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1CC64D6-5F45-4420-A84E-662AE2B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2" name="lab-step-0">
            <a:extLst xmlns:a="http://schemas.openxmlformats.org/drawingml/2006/main">
              <a:ext uri="{FF2B5EF4-FFF2-40B4-BE49-F238E27FC236}">
                <a16:creationId xmlns:a16="http://schemas.microsoft.com/office/drawing/2014/main" id="{76029438-1F8B-4BBD-A4C5-BE675EE6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3분 · 매일 9시 조건 확인, 5분 뒤 1회 시험</a:t>
            </a:r>
          </a:p>
        </p:txBody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A7DD833-1E50-4C51-AD18-823EC381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lab-step-1">
            <a:extLst xmlns:a="http://schemas.openxmlformats.org/drawingml/2006/main">
              <a:ext uri="{FF2B5EF4-FFF2-40B4-BE49-F238E27FC236}">
                <a16:creationId xmlns:a16="http://schemas.microsoft.com/office/drawing/2014/main" id="{0917CB0E-17AC-40F5-9658-AD5A27A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5분 · 시간대·환경 확인, 결과 기다리기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AA992AA-818F-4030-BD1F-8C407DE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lab-step-2">
            <a:extLst xmlns:a="http://schemas.openxmlformats.org/drawingml/2006/main">
              <a:ext uri="{FF2B5EF4-FFF2-40B4-BE49-F238E27FC236}">
                <a16:creationId xmlns:a16="http://schemas.microsoft.com/office/drawing/2014/main" id="{C087EEE7-E0E3-45C7-BBF9-3DFE0ABA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2분 · HTML 열기, 1회 시험 상태 정리</a:t>
            </a:r>
          </a:p>
        </p:txBody>
      </p:sp>
      <p:sp>
        <p:nvSpPr>
          <p:cNvPr id="17" name="completion-background">
            <a:extLst xmlns:a="http://schemas.openxmlformats.org/drawingml/2006/main">
              <a:ext uri="{FF2B5EF4-FFF2-40B4-BE49-F238E27FC236}">
                <a16:creationId xmlns:a16="http://schemas.microsoft.com/office/drawing/2014/main" id="{91982EC8-39CA-4899-9310-74867CD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8" name="completion">
            <a:extLst xmlns:a="http://schemas.openxmlformats.org/drawingml/2006/main">
              <a:ext uri="{FF2B5EF4-FFF2-40B4-BE49-F238E27FC236}">
                <a16:creationId xmlns:a16="http://schemas.microsoft.com/office/drawing/2014/main" id="{31646ED4-1E51-4A7D-B11F-C394A187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 예약 조건 + 열린 뉴스 HTML 1개</a:t>
            </a:r>
          </a:p>
        </p:txBody>
      </p:sp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ECC3187C-EC79-4B94-9EFE-E6F7F35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a19d127264273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7675907eb445a"/>
          <a:stretch xmlns:a="http://schemas.openxmlformats.org/drawingml/2006/main"/>
        </p:blipFill>
        <p:spPr>
          <a:xfrm xmlns:a="http://schemas.openxmlformats.org/drawingml/2006/main">
            <a:off x="819150" y="412432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236AD498-607A-48E4-ABD4-CE3EC5D5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P16 20쪽</a:t>
            </a:r>
          </a:p>
        </p:txBody>
      </p:sp>
    </p:spTree>
    <p:extLst>
      <p:ext uri="{BB962C8B-B14F-4D97-AF65-F5344CB8AC3E}">
        <p14:creationId xmlns:p14="http://schemas.microsoft.com/office/powerpoint/2010/main" val="20906424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6A80B75E-069E-4860-8EBC-9ED2395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예약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000F8435-2BF4-4C1D-8B32-D369ADDF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3분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AF5917-6172-43E8-8C83-84FA771D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6DE8E14-BABC-4295-AF5B-468570AC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F078539-B46D-4F3A-8BFA-E58CA022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2095B11-D7E2-417A-A768-A6FF220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5B2726-8948-4DE8-9336-D8B27593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B9AB33A7-6B90-48E2-B5DD-236D7AA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3분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D762984D-5179-4FFE-9EC2-AD508202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9FFBC885-5E1A-4755-919C-87E61659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5AD0C9C6-EDDF-4065-8D97-363931F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PC를 꺼도 실행되는지는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어디서 확인해야 할까요?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0963ABE8-B144-4FF7-99BC-C2390544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9EE839C0-AF03-4FB0-BC38-21AAF31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실행이 안 되면 무엇을 보나요?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1044A287-D076-40FC-9453-61E1433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테스트 예약을 반복 실행 상태로 남기지 마세요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6EC5575-77DD-4D0B-946D-2011ECF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7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02BEC435-4EE4-47DC-A136-8DBAA32E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1DB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A1DBD3"/>
                </a:solidFill>
                <a:latin typeface="Noto Sans CJK KR"/>
                <a:ea typeface="Noto Sans CJK KR"/>
                <a:cs typeface="Noto Sans CJK KR"/>
              </a:rPr>
              <a:t>상세 원문  P16 20쪽</a:t>
            </a:r>
          </a:p>
        </p:txBody>
      </p:sp>
    </p:spTree>
    <p:extLst>
      <p:ext uri="{BB962C8B-B14F-4D97-AF65-F5344CB8AC3E}">
        <p14:creationId xmlns:p14="http://schemas.microsoft.com/office/powerpoint/2010/main" val="2127825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eak-time">
            <a:extLst xmlns:a="http://schemas.openxmlformats.org/drawingml/2006/main">
              <a:ext uri="{FF2B5EF4-FFF2-40B4-BE49-F238E27FC236}">
                <a16:creationId xmlns:a16="http://schemas.microsoft.com/office/drawing/2014/main" id="{5A3822B2-2FF7-48BD-B234-50F3E16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14:35–14:45 · 10분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D2672B44-D55D-4B3E-A650-DADFBF5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12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0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눈과 손을 잠시 쉬어 갑니다</a:t>
            </a:r>
          </a:p>
        </p:txBody>
      </p:sp>
      <p:sp>
        <p:nvSpPr>
          <p:cNvPr id="3" name="next-topic">
            <a:extLst xmlns:a="http://schemas.openxmlformats.org/drawingml/2006/main">
              <a:ext uri="{FF2B5EF4-FFF2-40B4-BE49-F238E27FC236}">
                <a16:creationId xmlns:a16="http://schemas.microsoft.com/office/drawing/2014/main" id="{81FD466C-3B7F-429F-A83C-533C7B9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14:45  브라우저에서 읽고, 찾고, 실행하기</a:t>
            </a:r>
          </a:p>
        </p:txBody>
      </p:sp>
      <p:sp>
        <p:nvSpPr>
          <p:cNvPr id="4" name="break-tip">
            <a:extLst xmlns:a="http://schemas.openxmlformats.org/drawingml/2006/main">
              <a:ext uri="{FF2B5EF4-FFF2-40B4-BE49-F238E27FC236}">
                <a16:creationId xmlns:a16="http://schemas.microsoft.com/office/drawing/2014/main" id="{61F2419B-5D17-4E73-AD21-00367E76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721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자료는 저장하고 돌아오세요.</a:t>
            </a:r>
          </a:p>
        </p:txBody>
      </p:sp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4AEBBBD-4FF5-4800-B0E0-7439556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F8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99539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8B3B9920-7945-44D8-9219-758879A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부록 · 필요할 때 찾아보기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5773E2FF-EBCC-4C2F-9CAE-39D4BE7F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참고 자료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C14692-487E-4CE9-9A8D-62C8237E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원본 · 메일 6건과 일정 3건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28480E8-1C7A-4843-A291-72A7262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150DD56-FB1C-42FE-87E8-0A1BDE22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D884F4A-39B3-4CD0-B3F4-C3A3F412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132FA3-E1DA-4893-A6DB-3161ABA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0F287B84-9401-4AC8-9AE4-6DE41ACC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그대로 입력해 보세요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F36E975E-97C1-49B1-BDD0-1DA3137F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45CF631-B400-480D-AD46-D0DDFF42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01_원본/메일_일정_원본.txt를 사용합니다.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 M001–M006과 일정 C001–C003이 있습니다.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M006은 장비 점검 시간을 11시로 변경합니다.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M004의 첫 회의 후보는 C001과 겹칩니다.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강사·초과 사유·추가 승인 여부는 확인이 필요합니다.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MAIL01로 근거와 액션 아이템을 HTML로 만드세요.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202DD5AC-83C7-4592-9630-7A58EAC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결과 확인  후보 시각을 내 일정과 대조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FEC85DBA-FBA1-4B26-A257-46748697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dc7dbf874654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786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실습 프롬프트 · P13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P13. 메일과 일정을 분석해 액션 아이템 추출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요청·기한·일정 충돌·근거를 구분함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 메일과 캘린더에서 업무 정리가 필요해.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한국 시간 기준 최근 7일 메일과 다음 7일 일정을 봐.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연결된 도구와 읽을 수 있는 범위를 먼저 알려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요청 / 회신 필요 / 일정 / 참고 메일로 분류해.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같은 대화의 변경·취소는 최신 메일을 우선 대조해.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할 일 / 담당 / 기한 / 근거 메일 표를 만들어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담당·기한이 없으면 미정으로 두고 추정하지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후보 일정과 확정 일정, 겹치는 시간을 구분해.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오늘 우선 처리할 일 3개와 확인 질문을 제안해.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 발송·일정 등록은 하지 말고 정리만 보여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70B611FF-9EBF-4F56-BB2E-63A4A2F8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4c306d36d4702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실습 프롬프트 · P14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P14. 메일·일정 정리를 HTML 업무 브리핑으로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근거와 할 일이 있는 HTML이 열림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방금 확인한 메일·일정 분석을 HTML로 만들어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제목은 “내 업무 브리핑”, 조회 기간·작성일을 넣어.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구성은 오늘 할 일 / 회신 필요 / 일정 / 확인 질문이야.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할 일 표는 작업 / 담당 / 기한 / 상태 / 근거로 써.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변경된 일정과 중복·충돌 여부를 눈에 띄게 표시해.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실제 읽은 메일 제목·ID·링크만 근거로 사용해.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링크가 없으면 없는 상태로 두고 만들어 넣지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외부 스크립트·추적·원문 전체는 포함하지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02_결과/내업무_브리핑.html로 저장하고 열어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모바일·PC 표시와 기한·근거를 확인하고 공유는 대기해.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16B2AEC0-2AA3-48D9-8F55-970ECD6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8b5e677bb463f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실습 프롬프트 · P15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P15. 매일 아침 9시 AI 뉴스 HTML 받기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매일 9시·한국 시간·HTML 결과가 설정됨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매일 아침 9시에 AI 뉴스를 정리해서 받고 싶어.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한국 시간 기준으로 매일 실행해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실행 시점 직전 24시간의 중요한 AI 뉴스 5건을 골라.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공식 원문을 확인하고 중복·광고는 제외해.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제목·발표 시각·핵심·업무 영향·링크를 넣어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확인된 사실과 해석을 구분한 HTML로 만들어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파일 이름은 AI뉴스_실행날짜.html 형식으로 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 알림에서 HTML을 열 수 있게 전달해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저장 전에 시간·결과 위치·PC 종료 시 동작을 알려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내가 확인하면 예약하고 다음 실행 시간을 보여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33082475-B428-43A3-8274-4EBDCF4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8ddca0d7d4db9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실습 프롬프트 · P16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P16. 5분 뒤 뉴스 HTML 예약 시험하기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1회 실행 결과 HTML과 종료 상태 확인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매일 예약 전에 5분 뒤 한 번만 시험하고 싶어.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작업 이름은 “AI 뉴스 HTML 예약 시험”으로 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최근 24시간의 AI 뉴스 최대 3건을 원문으로 확인해.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제목·발표일·요약·링크를 HTML로 만들어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 알림에서 결과 파일을 열 수 있게 남겨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한국 시간, 반복 없는 1회 예약으로 준비해.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예정 시각·결과 위치·실행 환경을 먼저 보여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내가 확인한 뒤 저장하고, 실행 이력을 확인해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실행 여부가 불명확하면 예약을 중복 생성하지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HTML이 열리면 시험 완료로 정리하고 반복은 남기지 마.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2C228470-F9D0-42D0-B558-13A4A63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7aa442f354e29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MAIL01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MAIL01. 교육 원본으로 메일·일정 HTML 실습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교육 메일 6개와 일정 3개의 정리 결과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01_원본/메일_일정_원본.txt만 사용해 실습해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실제 내 메일과 캘린더는 지금 읽지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메일 6개와 일정 3개를 읽고 요청을 분류해.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변경 메일 M006과 이전 메일 M002를 연결해.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취소된 후보와 최신 요청, 확정 일정을 구분해.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할 일 / 담당 / 기한 / 근거 ID 표를 만들어.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일정 충돌과 지금 확인할 질문을 찾아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02_결과/내업무_브리핑.html로 정리해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기준일은 2026-09-14로 표시하고 날짜를 바꾸지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HTML을 열어 확인하고 발송·등록은 실행하지 마.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CE20DA52-B938-420C-8CF3-596BCC95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7f5e6dc8442ad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2026-09-07T21:02:28.5150000Z</dcterms:created>
  <dcterms:modified xsi:type="dcterms:W3CDTF">2026-09-07T21:02:28.5150000Z</dcterms:modified>
</coreProperties>
</file>